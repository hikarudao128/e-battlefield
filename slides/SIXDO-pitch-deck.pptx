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Tự nhiên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59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C9A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21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Ngoài Amazon</c:v>
                </c:pt>
              </c:strCache>
            </c:strRef>
          </c:tx>
          <c:spPr>
            <a:solidFill>
              <a:srgbClr val="9A9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61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5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Ngân sách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161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A464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857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A45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CC08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EADBB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PPC</c:v>
                </c:pt>
                <c:pt idx="1">
                  <c:v>Phí coupon</c:v>
                </c:pt>
                <c:pt idx="2">
                  <c:v>Công cụ AI &amp; dự phòng</c:v>
                </c:pt>
                <c:pt idx="3">
                  <c:v>Instagram</c:v>
                </c:pt>
                <c:pt idx="4">
                  <c:v>2 creator</c:v>
                </c:pt>
                <c:pt idx="5">
                  <c:v>Dự phòng ngoài Amazon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210</c:v>
                </c:pt>
                <c:pt idx="1">
                  <c:v>51</c:v>
                </c:pt>
                <c:pt idx="2">
                  <c:v>39</c:v>
                </c:pt>
                <c:pt idx="3">
                  <c:v>40</c:v>
                </c:pt>
                <c:pt idx="4">
                  <c:v>45</c:v>
                </c:pt>
                <c:pt idx="5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base cost đã gồm mọi phí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61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</c:v>
                </c:pt>
                <c:pt idx="1">
                  <c:v>707</c:v>
                </c:pt>
                <c:pt idx="2">
                  <c:v>1580</c:v>
                </c:pt>
                <c:pt idx="3">
                  <c:v>2062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chưa gồm phí 17%</c:v>
                </c:pt>
              </c:strCache>
            </c:strRef>
          </c:tx>
          <c:spPr>
            <a:solidFill>
              <a:srgbClr val="C9A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61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235</c:v>
                </c:pt>
                <c:pt idx="1">
                  <c:v>388</c:v>
                </c:pt>
                <c:pt idx="2">
                  <c:v>1009</c:v>
                </c:pt>
                <c:pt idx="3">
                  <c:v>1348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161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161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5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(15 giây): giới thiệu đội và luận điểm một câu: cùng sản phẩm, đổi bối cảnh, không xả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(40 giây): đọc luận điểm, rồi đi nhanh qua 6 quyết định. Nhấn mạnh: kể cả kịch bản thận trọng vẫn lãi hơn xả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lục (10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phần (5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toán (30 giây). Ràng buộc của đề và 4 lý do không xả giá. Tồn kho theo SKU là giả định, chờ BTC xác nhận.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Thị trường (30 giây). Lưu ý trung thực: số Q4 không chứng minh váy hè bán tốt trong Q4, chỉ cho thấy lượng người mua đông nhất rơi vào thời gian chiến dịch.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Hành vi tìm kiếm (30 giây). Ba nhóm từ khóa gắn với từng SKU. Số liệu lượng tìm kiếm Amazon (Helium 10) bổ sung vào đây nếu 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Thương hiệu (30 giây). Uy tín sàn diễn là của thương hiệu, không khẳng định chính 3 mẫu này từng lên sàn diễn.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Sản phẩm (35 giây). Tồn kho theo SKU là giả định (chia đều theo biến thể). Lợi nhuận góp tính theo 2 cách hiểu base cost (đã/chưa gồm phí 17%).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Đối thủ (35 giây). Khác biệt của SIXDO: thương hiệu từng trình diễn tại NYFW, thiết kế tay bồng/cổ buộc dây, tầng váy. Phải chứng minh vì sao đáng trả thêm ~22 USD: ảnh cận chất liệu + câu chuyện thương hiệu.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hiện tại (30 giây). Chỉ ra 4 lỗi trên ảnh chụp màn hình thật. Nhớ đối chiếu ASIN đề bài với listing quan sát được trước khi nộp.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phần (5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khúc (35 giây). Chọn 1 chính, 1 phụ; các nhóm còn lại chỉ làm ở mức từ khóa hoặc có điều kiện, để không dàn trải 400 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Chân dung (30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(40 giây). Insight được tách thành 3 nhận định kiểm chứng được. Cập nhật kết quả mã hóa đánh giá (tỷ lệ chọn vì vẻ ngoài / vì giá) vào đây khi 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phần (5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Tái định vị (40 giây). Thay nội dung, hình ảnh, styling, thông điệp; không thay sản phẩm. Uy tín runway luôn diễn đạt là "from a brand shown at New York Fashion Week".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(40 giây). Kiểm tra hiệu quả: so sánh CTR và Unit Session % 14 ngày trước/sau khi đổi ảnh chính; khảo sát 20–30 người chọn giữa 2 ảnh chính trước khi đăng.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Hình ảnh (35 giây). Mỗi sản phẩm có bộ 9 ảnh; ô đen là ảnh chụp thật, ô sáng là ảnh AI hoặc infographic. Nếu có bộ ảnh đã làm, chèn một bộ mẫu vào slide phụ lục.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(45 giây). Số sản phẩm = session × tỷ lệ chuyển đổi (Unit Session %), tách 3 nguồn để không đếm trùng. Kịch bản cơ sở chỉ cần 4,1 session tự nhiên/ngày cho cả 3 listing. Baseline đo ngày 01/10.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 SKU (30 giây). Thứ tự: thận trọng / cơ sở / mục tiêu. SP3 hồng có thể thêm ~4 sản phẩm nếu chạy thử nghiệm Tết.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Lịch (40 giây). Mỗi chiến dịch PPC đặt 1 USD/ngày nên chi tối đa đúng bằng ngân sách từng đợt; tối đa 2 chiến dịch cùng lúc. Tạm dừng PPC 15–28/02.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Ngân sách (30 giây). Phần lớn đòn bẩy nằm ở tỷ lệ chuyển đổi, do các công cụ miễn phí tạo ra: tiêu đề, A+, Brand Store, ảnh.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(35 giây). Chọn Instagram vì nhắm được theo bang và độ tuổi, hợp với Winter Escapers. Đăng ký Brand Referral Bonus nhưng không đưa vào dự báo.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Tài chính (40 giây). Giả định: khuyến mãi trung bình 5%, dự phòng hoàn hàng 8%, marketing cố định 400 USD. Chưa tính thuế nhập khẩu, cước biển (nếu base cost chưa gồm) và phụ phí tồn kho lâu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Đo lường (35 giây). Nguồn dữ liệu: Business Report, Search Query Performance, Brand Analytics, Amazon Attribution, Voice of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Rủi ro (30 giây).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(20 giây). Nhắc lại luận điểm và 3 con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Phụ lục A: dùng khi Ban Giám khảo hỏi về công cụ Amazon.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Phụ lục B. Danh sách nguồn đầy đủ có trong tài liệu kế hoạch.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0" kern="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E-BATTLEFIELD 2026  ·  VÒNG 2  ·  ĐỀ ÁN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sản phẩm,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đổi bối cảnh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bán 3 sản phẩm Xuân/Hè của SIXDO trên Amazon US trong mùa Thu/Đông, 10/2026 – 03/2027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thi: [Tên đội]   ·   04/10/2026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 ĐIỂM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không mua theo mùa trên lịch mà theo nơi mặc và dịp mặc. SIXDO bán lại 3 sản phẩm Xuân/Hè bằng cách đổi bối cảnh sử dụng, không đổi sản phẩm và không xả giá.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CHÍNH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609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Escapers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sống ở vùng lạnh đi du lịch vùng ấm, tháng 11–3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PHỤ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609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&amp; sự kiện trong nhà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năm, đám cưới; SP3 hồng cho Valentine và Phục sinh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609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bối cảnh, giữ giá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điệp: "Runway-inspired style for your winter escape"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93592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USD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trên Amazon (PPC 210) · 100 ngoài Amazon (Instagram, 2 creator)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593592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110 sản phẩm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cơ sở (78%); thận trọng 48, mục tiêu 110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593592"/>
            <a:ext cx="2560320" cy="10972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922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+1.009 đến +1.580 USD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góp sau marketing, so với +235 đến +533 USD nếu xả giá 50%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E-BATTLEFIELD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594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612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tổng quan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923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Thu/Đông, SIXDO, sản phẩm, đối thủ, listing hiện tại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6184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6367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mục tiêu &amp; insight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khúc, chân dung, insight có thể kiểm chứng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426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660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triển khai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971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định vị, listing &amp; hình ảnh, vận hành Amazon, marketing, tài chính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6667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685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phụ lục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995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ro, KPI, công cụ Amazon, giả định và nguồn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Nghiên cứu tổng quan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mùa Thu/Đông  ·  SIXDO  ·  Sản phẩm  ·  Đối thủ  ·  Listing hiện tại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BÀI TOÁN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sản phẩm hè, một mùa đông, 400 USD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874520" cy="114300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tồn kho, khoảng 5 chiếc mỗi biến thể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874520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USD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sách: 300 trên Amazon, 100 ngoài Amazon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874520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mới, không đổi sản phẩm vật lý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234440"/>
            <a:ext cx="1874520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tăng tỷ lệ chuyển đổi (tương đối)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không xả giá?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17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tồn kho tăng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2826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Quần áo bị phụ phí tồn kho lâu ngày từ ngày 271; phí lưu kho tháng 10–12 cao hơn.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017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ngành đang xả hàng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2826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nhà bán lẻ dư hàng cuối mùa; giảm giá ảnh hưởng trung bình 40% hàng hóa.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840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Xả sâu làm hỏng định vị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1056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ngược DNA "Accessible Haute Couture" và giá trị Brand Consistency.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3840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còn lại vẫn có đường ra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1056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tiếp đúng mùa Xuân/Hè 2027, không cần xả trước tháng 3.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THỊ TRƯỜNG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là mùa mua sắm lớn nhất của thời trang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200400" cy="251460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24,1 tỷ USD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Q4 ngành Quần áo, Giày &amp; Trang sức trên Amazon, khoảng 30% doanh thu cả năm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dựa trên dữ liệu 2024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 tỷ USD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2618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trang nữ trên Amazon trong Q4; tháng 10 và 12 là hai tháng cao nhất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257,8 tỷ USD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305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sắm online mùa lễ 2025 (+6,8%), may mặc trong top 3; giảm giá đỉnh khoảng 25% (Adobe)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USD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9992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đơn trung bình Prime Big Deal Days 10/2025; 90% đơn dưới 100 USD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cho SIXDO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519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giá 26–52 USD nằm đúng vùng khách mua nhiều nhất, và cũng là vùng cạnh tranh gay gắt nhất. Q4 lớn không có nghĩa váy hè tự bán được: phải đổi bối cảnh.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HÀNH VI TÌM KIẾM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tìm theo chuyến đi và dịp, không theo lịch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754880" cy="97840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62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CHUYẾN ĐI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3441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SP1, SP2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18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outfits · resort wear · vacation jumpsuit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4754880" cy="97840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DỊP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59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đen, SP3 hồng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734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party dress · black party dress · valentines dress · easter dress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4754880" cy="97840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593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MÙA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5753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496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maxi dress · long sleeve maxi dress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234440"/>
            <a:ext cx="3017520" cy="3410712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"resort wear dresses" trên Google Trends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1737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11/2025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737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331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1/2025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đạt đỉnh vào mùa đông, giảm vào tháng 5–9.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21,7 triệu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6301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khách du thuyền Bắc Mỹ năm 2026; cao điểm Caribbean tháng 11–3. BST Resort/Cruise cũng giao hàng tháng 11.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THƯƠNG HIỆU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SIXDO: tiêu chuẩn sàn diễn cho phụ nữ thật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017520" cy="342900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25648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660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SIXDO tại NYFW hoặc Shanghai Fashion Week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01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anh/runway.jpg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"Runway standards. Real women. Built to scale."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thiết kế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783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 Mạnh Cường; thương hiệu ra mắt 10/2020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240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"Accessible Haute Couture": thiết kế sàn diễn ở mức giá tiếp cận được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Amazon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6974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Brand Store; 3 sản phẩm của đề bài đang bán tại Amazon US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246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quốc tế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05072" y="3675888"/>
            <a:ext cx="3497580" cy="0"/>
          </a:xfrm>
          <a:prstGeom prst="line">
            <a:avLst/>
          </a:prstGeom>
          <a:noFill/>
          <a:ln w="12700">
            <a:solidFill>
              <a:srgbClr val="C9A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3602736"/>
            <a:ext cx="146304" cy="14630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3840480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069080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97780" y="3602736"/>
            <a:ext cx="146304" cy="14630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97780" y="3840480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97780" y="4069080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Week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602736"/>
            <a:ext cx="146304" cy="14630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840480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069080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Shanghai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Week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29500" y="3602736"/>
            <a:ext cx="146304" cy="146304"/>
          </a:xfrm>
          <a:prstGeom prst="ellipse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9500" y="3840480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29500" y="4069080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Rodeo Drive,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Coast Plaza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SẢN PHẨM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sản phẩm, 5 màu, 110 chiếc cần bán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8745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5133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45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– Floral Woven Long Jumpsuit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985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anh/sp1.jpg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· Jumpsuit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44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· xanh trắng · S–XL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455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 · tồn 20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Họa tiết resort; danh mục Jumpsuits ít đối thủ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Một màu, không tay, khó chọn size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06040" y="1188720"/>
            <a:ext cx="18745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697480" y="15133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17145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 – Voile Floral Flared Maxi Dress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20985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anh/sp2.jpg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 · Maxi tay dài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2944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Voan · xanh, vàng · S–XL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1455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 · tồn 40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383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Tay dài, màu vàng hợp bối cảnh mùa thu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Voan mỏng; đắt hơn đối thủ ~70%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18745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754880" y="15133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17145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– Raw Flared Dress, màu đen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20985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anh/sp3-den.jpg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· Đen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2944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· S–XXL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1455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 · tồn 25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383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Màu đen mặc tiệc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Nằm trong vùng chiến giá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0840" y="1188720"/>
            <a:ext cx="1874520" cy="141732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812280" y="15133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17145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– Raw Flared Dress, màu hồng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20985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anh/sp3-hong.jpg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· Hồng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944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· S–XXL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31455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 · tồn 25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3383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Hồng hợp Valentine, Phục sinh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Phụ thuộc vào dịp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41879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góp mỗi sản phẩm: </a:t>
            </a:r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SP1, SP2 28–37 USD; SP3 12–16 USD (gấp ~2,3 lần) → ưu tiên ngân sách quảng cáo cho SP1, SP2.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ĐỐI THỦ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thủ rẻ hơn: SIXDO phải thắng bằng giá trị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828800"/>
                <a:gridCol w="77724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thủ trực tiếp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định vị trong tiêu đề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 · 51,99 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PRETTYGARDEN Long Sleeve Floral Maxi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"Fall … Wedding Guest, Cocktail, Travel Vacation"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 · 25,99 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ZESICA Spaghetti Strap Ruffle Mini, 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đương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"2026 Summer … Party"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 · 51,99 USD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ANRABESS, PRETTYGARDEN (Best Sellers Jumpsuits)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hơn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leg floral jumpsuit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234440"/>
            <a:ext cx="2331720" cy="173736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 đắt hơn PRETTYGARDEN (51,99 so với ~30 USD). Đây là rủi ro chuyển đổi lớn nhất.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thương hiệu xử lý hàng trái mùa thế nào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1499616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6118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8130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Resort/Cruise tháng 11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2062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Chanel, Zimmermann → "Winter Escape Edit"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85416" y="3520440"/>
            <a:ext cx="1499616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22576" y="36118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322576" y="38130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sản phẩm, nhiều dịp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322576" y="42062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PRETTYGARDEN → tiêu đề nhiều dịp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22192" y="3520440"/>
            <a:ext cx="1499616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59352" y="36118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959352" y="38130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họa tiết, đổi cách phối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959352" y="42062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Rio → ảnh phối lớp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58968" y="3520440"/>
            <a:ext cx="1499616" cy="11430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96128" y="36118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596128" y="38130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ngắn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596128" y="42062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Pulitzer → coupon 10%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095744" y="3520440"/>
            <a:ext cx="1499616" cy="114300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32904" y="36118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232904" y="38130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sâu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232904" y="42062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Elise, IVY moda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LISTING HIỆN TẠI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hiện tại vẫn đang nói về mùa hè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931920" cy="342900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25648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660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chụp màn hình listing Amazon hiện tại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01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anh/listing-hien-tai.jpg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29184" cy="32918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cũ và chữ "Summer" trong tiêu đề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5361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"Spring and Summer 2025", "2026 … Beach and Summer Events" khiến listing lệch khỏi tìm kiếm mùa đông.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329184" cy="32918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màu nội bộ "G-"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4048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không hiểu; nên đổi thành Blue, Mustard Yellow, Black, Blush Pink.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29184" cy="32918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"Raw" dễ bị hiểu là "thô"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2735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nói gì về kiểu dáng xếp tầng, xòe.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329184" cy="32918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định vị "Work Events"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142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trúng dịp tiệc cuối năm, Valentine, Phục sinh.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hàng mục tiêu &amp; insight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theo nhu cầu  ·  Chân dung  ·  Insight có thể kiểm chứng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PHÂN KHÚC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khúc theo nơi mặc và dịp mặc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trục: nơi mặc có ấm không, và mặc vào dịp gì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514600" cy="32461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563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SP1, SP2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 Escapers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06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sống ở vùng lạnh đi du thuyền, nghỉ dưỡng vùng ấm tháng 11–3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20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 triệu hành khách du thuyền; 44% người đi du lịch mùa đông tìm nơi ấm (Allianz)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514600" cy="324612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1563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đen, SP2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Tiệc &amp; sự kiện trong nhà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606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năm, đám cưới; cần váy chỉn chu đúng dress code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20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 tháng 11–12; 17% đám cưới tổ chức ở nơi xa (The Knot)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bổ sung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Valentine &amp; Phục sinh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bán cho SP3 hồng (từ khóa + coupon), không cần phân khúc riêng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Tết của người Mỹ gốc Việt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27523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chạy nếu 15/01 SP3 hồng còn ≥ 10 chiếc và có creator gốc Việt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Belt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34838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là góc từ khóa "fall maxi" cho SP2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3977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phòng, mua sớm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4215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đủ bằng chứng / gộp vào Winter Escapers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CHÂN DUNG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chân dung khách hàng ưu tiên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234440" cy="3429000"/>
          </a:xfrm>
          <a:prstGeom prst="rect">
            <a:avLst/>
          </a:prstGeom>
          <a:solidFill>
            <a:srgbClr val="1E1C19"/>
          </a:solidFill>
          <a:ln w="12700">
            <a:solidFill>
              <a:srgbClr val="3A352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25648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660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bối cảnh du thuyền / resort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01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anh/khach-du-thuyen.jpg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 Escapers (chính)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7373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AI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nữ 28–45 tuổi ở Đông Bắc và Trung Tây Mỹ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3225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ĐÂU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thuyền, nghỉ dưỡng Caribbean, Mexico, Florida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907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MUA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090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tuần trước chuyến đi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493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GÌ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3675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SP1, SP2 · từ khóa theo chuyến đi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078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2611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PPC; Instagram nhắm các bang lạnh; creator du lịch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1234440" cy="342900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754880" y="25648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7660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bối cảnh tiệc trong nhà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1501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anh/khach-tiec.jpg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Tiệc &amp; sự kiện (phụ)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17373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AI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nữ 25–45 tuổi đi tiệc cuối năm, đám cưới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23225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 CẦU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Trông chỉn chu, đúng dress code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29077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MUA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3090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tuần trước sự kiện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3493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GÌ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3675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đen, SP2 · từ khóa theo dịp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4078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080760" y="42611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PPC; coupon Holiday Party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INSIGHT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Insight: trông đặc biệt, giá hợp lý, giao kịp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1887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"Mua đồ cho chuyến đi thì dễ. Khó là tìm được món trông đặc biệt trong ảnh mà giá vẫn hợp lý, và giao kịp trước ngày đi."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560320" cy="18288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50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BẰNG CHỨNG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nhu cầu mua đồ hè cho chuyến đi mùa đông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272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Critic, Ask MetaFilter; lượng tìm "resort wear" đạt đỉnh tháng 11 và 1. Lưu ý: nhu cầu có thật nhưng không khan hiếm hàng.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2240280"/>
            <a:ext cx="2560320" cy="18288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350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KIỂM CHỨNG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coi trọng vẻ khác biệt, không chỉ giá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1272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200 đánh giá mùa 11–3 của 10 mẫu bán chạy + 5 phỏng vấn. Ủng hộ nếu "chọn vì vẻ ngoài" ≥ "chọn vì giá".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560320" cy="182880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350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6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KIỂM CHỨNG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kịp trước chuyến đi là quan trọng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12724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đánh giá nhắc "arrived in time", "before my trip", "late".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N2 bị phản bác </a:t>
            </a:r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(khách chọn vì giá nhiều gấp đôi): chuyển thông điệp từ "khác biệt" sang "chất liệu và giá trị".   </a:t>
            </a:r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phụ: </a:t>
            </a:r>
            <a:pPr indent="0" marL="0">
              <a:buNone/>
            </a:pPr>
            <a:r>
              <a:rPr lang="en-US" sz="1000" i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"Váy chỉn chu, đúng dress code, với giá không tiếc dù chỉ mặc vài lần."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triển khai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định vị  ·  Listing &amp; hình ảnh  ·  Vận hành Amazon  ·  Marketing  ·  Tài chính  ·  KPI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TÁI ĐỊNH VỊ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sản phẩm, đổi bối cảnh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điệp chính: "Runway-inspired style for your winter escape."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74520" cy="132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080" y="16504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516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– Floral Woven Long Jumpsuit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357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anh/sp1.jpg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Escape Jumpsuit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Boong du thuyền, bữa tối ở resort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844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39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Cardigan lửng; trench coat ở sân bay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1371600"/>
            <a:ext cx="1874520" cy="132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2697480" y="16504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18516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 – Voile Floral Flared Maxi Dress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22357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anh/sp2.jpg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Vacation-to-Fall Maxi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Resort; họp mặt mùa thu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5844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3739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Áo khoác denim, boot da lộn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1874520" cy="132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754880" y="16504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8516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– Raw Flared Dress, màu đen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2357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anh/sp3-den.jpg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Party Dress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trong nhà ánh đèn vàng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35844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3739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Blazer khoác vai, tất mỏng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1371600"/>
            <a:ext cx="1874520" cy="132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D9D4CA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812280" y="16504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18516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– Raw Flared Dress, màu hồng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22357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anh/sp3-hong.jpg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7706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Pink Edit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32278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mùa xuân, hẹn hò Valentine, Phục sinh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35844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720840" y="37398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Cardigan mỏng, giày bệt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187952"/>
            <a:ext cx="8046720" cy="5029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" y="41879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Rào chắn thương hiệu:  </a:t>
            </a:r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"haute couture" hay "clearance" với khách · không giảm quá 15% · không để ảnh AI sai họa tiết, độ dài · không hứa size, giao hàng khi chưa có dữ liệu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LISTING &amp; NỘI DUNG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mới: nói về nơi mặc và dịp mặc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429000"/>
                <a:gridCol w="4114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Trước (tiêu đề quan sát được)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(đề xuất)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G White Blue Floral Woven Long Jumpsuit for Women 2026 … Beach and Summer 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Women's Blue Floral Cotton Halter Jumpsuit – Wide Leg Resort Wear for Cruise, Tropical Vacation &amp; Beach Dinner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Voile Floral Flared Maxi Dress … Garden Party and Vacation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Women's Long Sleeve Floral Maxi Dress – Tiered Tie-Neck Flowy Dress for Vacation, Fall Events &amp; Wedding Guest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Raw Flared Dress … Sleek and Versatile for Work Events and Formal Celebrations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SIXDO Women's Spaghetti Strap Tiered Fit and Flare Dress – Party Dress for Holiday, Cocktail, Valentine's &amp; Easter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37560"/>
            <a:ext cx="2560320" cy="13258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456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ĐỀ &amp; BULLET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850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năm cũ, chữ "Summer", mã "G-"; tên màu Blue, Mustard Yellow, Black, Blush Pink. Bullet chỉ dùng thông tin kiểm chứng được (lót, số đo inch).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3337560"/>
            <a:ext cx="2560320" cy="13258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3456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CONTENT (0 USD)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6850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 · "Một bộ, ba dịp" · chất liệu cận cảnh · bảng size bằng inch · so sánh 3 sản phẩm.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337560"/>
            <a:ext cx="2560320" cy="132588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3456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6850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trang theo dịp: Winter Escape (SP1, SP2) · Holiday Party (SP3 đen, SP2) · Pink Edit (SP3 hồng, tháng 2–3).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HÌNH ẢNH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9 ảnh cho mỗi sản phẩm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572768" cy="106984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44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830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chính nền trắng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1234440"/>
            <a:ext cx="1572768" cy="106984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22576" y="1307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344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17830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chính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1234440"/>
            <a:ext cx="1572768" cy="106984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6784" y="1307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1344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986784" y="17830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lớp cho mùa lạnh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1572768" cy="106984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505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9443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bộ, ba dịp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12848" y="2395728"/>
            <a:ext cx="1572768" cy="106984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22576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2505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2322576" y="29443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thiết kế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77056" y="2395728"/>
            <a:ext cx="1572768" cy="106984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86784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425696" y="2505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986784" y="294436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liệu cận cảnh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557016"/>
            <a:ext cx="1572768" cy="106984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3630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6667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41056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size bằng inch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12848" y="3557016"/>
            <a:ext cx="1572768" cy="106984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22576" y="3630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761488" y="36667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THẬT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2322576" y="41056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tín thương hiệu (NYFW)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77056" y="3557016"/>
            <a:ext cx="1572768" cy="106984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86784" y="3630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4425696" y="36667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3986784" y="410565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mua kèm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của Amazon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0" y="1508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chính phải là ảnh chụp thật trên nền trắng, sản phẩm chiếm ≥ 85% khung. AI chỉ dùng cho ảnh phụ và phải thể hiện đúng sản phẩm.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0" y="2697480"/>
            <a:ext cx="237744" cy="23774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0" y="2697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016752" y="26791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thật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3090672"/>
            <a:ext cx="237744" cy="23774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016752" y="307238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mẫu AI (Photoroom, Botika, Claid)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3483864"/>
            <a:ext cx="237744" cy="23774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6928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016752" y="346557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(Gemini, Firefly)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0" y="3877056"/>
            <a:ext cx="237744" cy="23774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69280" y="3877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016752" y="385876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 (Canva)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270248"/>
            <a:ext cx="237744" cy="237744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669280" y="427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016752" y="42519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tra: đúng họa tiết, màu, độ dài, độ trong của vải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VẬN HÀNH AMAZON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cơ sở: bán 86 / 110 sản phẩm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sản phẩm bán ra theo nguồn, 01/10/2026 – 31/03/2027 (182 ngày)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258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 định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Thận trọng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sở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tự nhiên/ngày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chuyển đổi tự nhiên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chuyển đổi PPC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sản phẩm bán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2926080"/>
            <a:ext cx="3749040" cy="173736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sản phẩm tự nhiên đến từ đâu?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029200" y="331012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hiện trên từ khóa mới nhờ đổi tiêu đề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lan tỏa từ PPC lên thứ hạng tự nhiên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thương hiệu từ creator, Instagram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là quý đông khách nhất của ngành hàng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VẬN HÀNH AMAZON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sản phẩm có mùa bán riêng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kịch bản cơ sở theo SKU (tổng khớp 86 sản phẩm)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371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MÙA BÁN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CHÍNH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/ TỒN KHO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371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KỊCH BẢN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804672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16916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 Jumpsuit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16916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1–2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1691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đợt 3 · coupon Winter Escape · creator · Instagram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911096"/>
            <a:ext cx="1188720" cy="128016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911096"/>
            <a:ext cx="950976" cy="128016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1691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 / 20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23500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 Maxi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23500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10–11, 1–2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2350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đợt 1 và 3 · coupon Winter Escape · mua kèm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569464"/>
            <a:ext cx="1188720" cy="128016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569464"/>
            <a:ext cx="1010412" cy="128016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23500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34/40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3500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 / 40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008376"/>
            <a:ext cx="804672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0083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300837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11–12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30083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đợt 2 · coupon Holiday Party · mua kèm với SP2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3227832"/>
            <a:ext cx="1188720" cy="128016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227832"/>
            <a:ext cx="950976" cy="128016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60920" y="30083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30083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 / 25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666744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36667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hồng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965960" y="36667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2–3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00400" y="3666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khóa Valentine, Phục sinh · PPC đợt 4 · coupon Pink Edit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3886200"/>
            <a:ext cx="1188720" cy="128016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886200"/>
            <a:ext cx="760781" cy="128016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60920" y="36667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366674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 / 25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370832"/>
            <a:ext cx="8046720" cy="33832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" y="437083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965960" y="4370832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nhập thêm hàng · không chi quảng cáo cho biến thể còn ≤ 1 chiếc · còn hàng sau 31/03 thì giữ giá, bán mùa Xuân/Hè 2027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269480" y="4370832"/>
            <a:ext cx="548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86/110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818120" y="4370832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86 / 110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LỊCH TRIỂN KHAI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6 tháng: mỗi giai đoạn một dịp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1234440"/>
            <a:ext cx="1105821" cy="34290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261872"/>
            <a:ext cx="1105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8941" y="1261872"/>
            <a:ext cx="10701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79091" y="1234440"/>
            <a:ext cx="1105821" cy="34290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9091" y="1261872"/>
            <a:ext cx="1105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84912" y="1261872"/>
            <a:ext cx="1105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0733" y="1234440"/>
            <a:ext cx="998806" cy="3429000"/>
          </a:xfrm>
          <a:prstGeom prst="rect">
            <a:avLst/>
          </a:prstGeom>
          <a:solidFill>
            <a:srgbClr val="FAF8F4"/>
          </a:solidFill>
          <a:ln w="9525">
            <a:solidFill>
              <a:srgbClr val="FAF8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0733" y="1261872"/>
            <a:ext cx="9988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489539" y="1261872"/>
            <a:ext cx="110582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5807" y="1591056"/>
            <a:ext cx="356716" cy="292608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12685" y="15910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2523" y="1591056"/>
            <a:ext cx="1141493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2523" y="1591056"/>
            <a:ext cx="11414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Mùa thu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4016" y="1591056"/>
            <a:ext cx="1640896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4016" y="1591056"/>
            <a:ext cx="164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84912" y="1591056"/>
            <a:ext cx="1605224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84912" y="1591056"/>
            <a:ext cx="160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Escape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90136" y="1591056"/>
            <a:ext cx="1605224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0136" y="1591056"/>
            <a:ext cx="160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Mùa xuân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0848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(210 USD)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2523" y="2121408"/>
            <a:ext cx="1141493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02523" y="2121408"/>
            <a:ext cx="11414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1 · SP2 · 45$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4016" y="2121408"/>
            <a:ext cx="1640896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4016" y="2121408"/>
            <a:ext cx="164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2 · SP3 đen · 55$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84912" y="2121408"/>
            <a:ext cx="1605224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84912" y="2121408"/>
            <a:ext cx="160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3 · SP1+SP2 · 90$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89539" y="2121408"/>
            <a:ext cx="713433" cy="292608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34775" y="21214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4 · 20$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26151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SP1, SP2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27598" y="2651760"/>
            <a:ext cx="1141493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27598" y="2651760"/>
            <a:ext cx="11414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Escape −10%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1455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SP3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79091" y="3182112"/>
            <a:ext cx="713433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24327" y="3182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−10%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90733" y="3182112"/>
            <a:ext cx="499403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28954" y="3182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988942" y="3182112"/>
            <a:ext cx="499403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27164" y="3182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 sinh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3675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Amazon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45807" y="3712464"/>
            <a:ext cx="963135" cy="292608"/>
          </a:xfrm>
          <a:prstGeom prst="rect">
            <a:avLst/>
          </a:prstGeom>
          <a:solidFill>
            <a:srgbClr val="D9D4CA"/>
          </a:solidFill>
          <a:ln w="9525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245807" y="3712464"/>
            <a:ext cx="963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creator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84912" y="3712464"/>
            <a:ext cx="1605224" cy="292608"/>
          </a:xfrm>
          <a:prstGeom prst="rect">
            <a:avLst/>
          </a:prstGeom>
          <a:solidFill>
            <a:srgbClr val="C9A45C"/>
          </a:solidFill>
          <a:ln w="9525">
            <a:solidFill>
              <a:srgbClr val="C9A45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84912" y="3712464"/>
            <a:ext cx="160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nội dung creator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206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quyết định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20824" y="4297680"/>
            <a:ext cx="164592" cy="164592"/>
          </a:xfrm>
          <a:prstGeom prst="diamond">
            <a:avLst/>
          </a:prstGeom>
          <a:solidFill>
            <a:srgbClr val="C9A45C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212848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01/10 · đo baseline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161123" y="4297680"/>
            <a:ext cx="164592" cy="164592"/>
          </a:xfrm>
          <a:prstGeom prst="diamond">
            <a:avLst/>
          </a:prstGeom>
          <a:solidFill>
            <a:srgbClr val="C9A45C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53147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· kiểm tra 70%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802019" y="4297680"/>
            <a:ext cx="164592" cy="164592"/>
          </a:xfrm>
          <a:prstGeom prst="diamond">
            <a:avLst/>
          </a:prstGeom>
          <a:solidFill>
            <a:srgbClr val="C9A45C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94043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15/01 · quyết định Tết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421624" y="4297680"/>
            <a:ext cx="164592" cy="164592"/>
          </a:xfrm>
          <a:prstGeom prst="diamond">
            <a:avLst/>
          </a:prstGeom>
          <a:solidFill>
            <a:srgbClr val="C9A45C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69480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 · không xả hàng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NGÂN SÁCH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USD: 3/4 dành cho Amazon, nơi chốt đơn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3474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3716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USD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ngân sách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AMAZON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USD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343400" y="2121408"/>
            <a:ext cx="164592" cy="16459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9432" y="2057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20574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USD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2505456"/>
            <a:ext cx="164592" cy="164592"/>
          </a:xfrm>
          <a:prstGeom prst="rect">
            <a:avLst/>
          </a:prstGeom>
          <a:solidFill>
            <a:srgbClr val="4A4640"/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9432" y="2441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coupon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4414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USD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43400" y="2889504"/>
            <a:ext cx="164592" cy="164592"/>
          </a:xfrm>
          <a:prstGeom prst="rect">
            <a:avLst/>
          </a:prstGeom>
          <a:solidFill>
            <a:srgbClr val="8A857C"/>
          </a:solidFill>
          <a:ln w="12700">
            <a:solidFill>
              <a:srgbClr val="8A85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99432" y="28254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AI &amp; dự phòng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897880" y="2825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USD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AMAZON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USD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492240" y="2121408"/>
            <a:ext cx="164592" cy="164592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48272" y="2057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0" y="20574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USD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92240" y="2505456"/>
            <a:ext cx="164592" cy="164592"/>
          </a:xfrm>
          <a:prstGeom prst="rect">
            <a:avLst/>
          </a:prstGeom>
          <a:solidFill>
            <a:srgbClr val="DCC08A"/>
          </a:solidFill>
          <a:ln w="12700">
            <a:solidFill>
              <a:srgbClr val="DCC0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48272" y="2441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creator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24414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USD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92240" y="2889504"/>
            <a:ext cx="164592" cy="164592"/>
          </a:xfrm>
          <a:prstGeom prst="rect">
            <a:avLst/>
          </a:prstGeom>
          <a:solidFill>
            <a:srgbClr val="EADBB8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48272" y="28254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 ngoài Amazon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2825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USD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343400" y="3383280"/>
            <a:ext cx="4251960" cy="128016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80560" y="347472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chiến dịch PPC 1 USD/ngày → chi tối đa đúng 210 USD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ACoS ≤ 30%, dưới mức hòa vốn thấp nhất (37%)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Prime Exclusive Discount (100 USD/đợt), Lightning Deal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giảm cho khách qua coupon (~136 USD) trừ vào doanh thu, không vào ngân sách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Ít kênh, đo được từng bước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link ngoài Amazon đều gắn Amazon Attribution, kể cả link trong trang link-in-bio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103120" cy="566928"/>
          </a:xfrm>
          <a:prstGeom prst="homePlate">
            <a:avLst/>
          </a:prstGeom>
          <a:solidFill>
            <a:srgbClr val="1616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BIẾT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· 2 creator du lịch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Đo: Lượt hiển thị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32888" y="1371600"/>
            <a:ext cx="2103120" cy="566928"/>
          </a:xfrm>
          <a:prstGeom prst="chevron">
            <a:avLst/>
          </a:prstGeom>
          <a:solidFill>
            <a:srgbClr val="1616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61488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NHẮC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Store "Winter Escape" qua link Attribution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Đo: Click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17136" y="1371600"/>
            <a:ext cx="2103120" cy="566928"/>
          </a:xfrm>
          <a:prstGeom prst="chevron">
            <a:avLst/>
          </a:prstGeom>
          <a:solidFill>
            <a:srgbClr val="C9A4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5736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mới + coupon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Đo: Thêm vào giỏ → bán 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01384" y="1371600"/>
            <a:ext cx="2103120" cy="566928"/>
          </a:xfrm>
          <a:prstGeom prst="chevron">
            <a:avLst/>
          </a:prstGeom>
          <a:solidFill>
            <a:srgbClr val="1616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9984" y="1371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CHÂN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92824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brand trên Amazon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92824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Đo: Người theo dõi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80467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697480"/>
                <a:gridCol w="82296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Ngân sách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(PPC, coupon, A+, Brand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Chốt đơn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lịch triển khai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kênh ngoài Amazon duy nhất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 1–2 Reels, phụ nữ 28–45 ở NY, NJ, MA, 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được vị trí và độ tuổi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creator du lịch (5k–30k người theo dõi)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thật để dùng lại cho listing, A+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xác nhận bằng văn bản trước 31/10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làm trong giai đoạn này: TikTok, Google Ads, affiliate trả phí. Amazon Live: 1 buổi tùy chọn nếu có người dẫn nói tiếng Anh.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TÀI CHÍNH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giá vẫn lãi hơn xả hàng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góp sau marketing (USD), 2 cách hiểu base cost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25880"/>
          <a:ext cx="5440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32588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481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cơ sở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7373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+1.580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(A), so với +533 USD nếu xả giá 50%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834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3.358 USD · marketing chiếm 12% doanh thu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3375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cả kịch bản thận trọng vẫn lãi hơn xả hàng, và còn 62 sản phẩm để bán đúng mùa Xuân/Hè 2027.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ĐO LƯỜNG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gì, và làm gì khi lệch kế hoạch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075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Session 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47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tương đối so với baseline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1234440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13075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ảnh chính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1947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14 ngày trước/sau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386584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5973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8712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khóa trang 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998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chuyến đi và dịp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77440" y="2386584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14600" y="245973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4,3★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28712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0998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hoàn &lt; 20%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538728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23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bán / giá gốc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251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định vị, không xả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77440" y="3538728"/>
            <a:ext cx="1691640" cy="102412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4600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USD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4023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quảng cáo lãng phí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4251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biến thể đã hết hàng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1234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ra quyết định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25696" y="1691640"/>
            <a:ext cx="0" cy="2697480"/>
          </a:xfrm>
          <a:prstGeom prst="line">
            <a:avLst/>
          </a:prstGeom>
          <a:noFill/>
          <a:ln w="12700">
            <a:solidFill>
              <a:srgbClr val="C9A4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1627632"/>
            <a:ext cx="164592" cy="16459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63440" y="16002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tự nhiên &lt; 2 session/ngày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18653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Báo BTC; dồn PPC vào SP2, SP1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2404872"/>
            <a:ext cx="164592" cy="16459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&lt; 70% mục tiêu cộng dồn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2642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Chuyển dự phòng sang PPC (trong 300 USD); bật mua kèm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3182112"/>
            <a:ext cx="164592" cy="16459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6344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hồng còn ≥ 10 chiếc + có creator gốc Việt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419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Chạy thử nghiệm Tết; nếu không thì bỏ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3959352"/>
            <a:ext cx="164592" cy="164592"/>
          </a:xfrm>
          <a:prstGeom prst="ellipse">
            <a:avLst/>
          </a:prstGeom>
          <a:solidFill>
            <a:srgbClr val="161616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63440" y="39319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0352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tồn kho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4197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xả: giữ giá, bán tiếp mùa Xuân/Hè 2027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RỦI RO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và phương án dự phòng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Dấu hiệu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SP2 đắt hơn đối thủ ~70%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mã hóa đánh giá: khách chọn vì giá nhiều gấp đôi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Chuyển thông điệp sang chất liệu và giá trị; tăng ảnh cận chất liệu, câu chuyện thương hiệu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tự nhiên thấp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01/10 &lt; 2 session/ngày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 bản thận trọng là khả năng cao; dồn PPC vào SP1, SP2 (biên lợi nhuận cao)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không nhận lời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có xác nhận bằng văn bản trước 31/10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45 USD trong ngân sách ngoài Amazon để boost nội dung của thương hiệu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Tồn kho mỏng (~5 chiếc/biến thể)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thể còn ≤ 1 chiếc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Dừng quảng cáo biến thể đó; đẩy màu, size còn nhiều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bán hết đến 31/03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Còn tồn kho cuối chiến dịch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xả giá; bán tiếp đúng mùa Xuân/Hè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AI sai sản phẩm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Họa tiết, màu, độ dài khác ảnh thật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trước khi đăng; ảnh chính luôn là ảnh thật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sản phẩm.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Đổi bối cảnh.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xả giá.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86/110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0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bán ra, kịch bản cơ sở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+1.580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630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lợi nhuận góp (A), gấp ~3 lần xả giá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30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đo được từng bước bằng Attribution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206240" cy="4206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000" kern="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 Giám khảo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sẵn sàng cho phần hỏi đáp.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thi: [Tên đội]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 Amazon: điều kiện và quyết định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/ chi phí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4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Quyết định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Content, Brand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Registry (đã có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USD/đợt + 2,5% doanh số dùng coupon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đợt, tổng phí ≈ 51 USD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 đo lường, miễn phí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Gắn cho mọi link ngoài Amazon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Referral Bonus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 riêng; chỉ tính doanh số qua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ký, không đưa vào dự báo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Bundle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Registry, hàng FBA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Nếu không đủ điều kiện: "Mua 2 giảm 10%"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Your Experiments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mở cho ASIN có traffic cao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bằng so sánh trước/sau + khảo sát ảnh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Exclusive Discount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USD mỗi đợt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dùng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Posts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ngừng từ 31/07/2025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Nguồn chưa thống nhất; tốn hàng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dùng nếu &lt; 3 đánh giá và BTC cho lấy hàng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 định, câu hỏi gửi BTC và nguồn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SIXDO × Amazon US  ·  Kế hoạch bán hàng xuyên mùa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định chính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chia theo biến thể: SP1 20, SP2 40, SP3 đen 25, SP3 hồng 25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cost tính 2 cách: đã gồm mọi phí (A) / chưa gồm phí giới thiệu 17% (B)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 hoàn hàng 8% giá bán (tỷ lệ hoàn ~20% × chi phí ~40% mỗi đơn hoàn)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khoảng 0,9 USD → ~233 session PPC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mãi trung bình 5%; marketing cố định 400 USD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tính thuế nhập khẩu, cước biển, phụ phí tồn kho lâu ngày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gửi BTC: tồn kho theo SKU/màu/size; session 90 ngày; base cost gồm phí chưa; điều chuyển ngân sách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chính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50876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Ads: Attribution, Posts (đã ngừng), FAQ ngân sách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on Amazon: Manage Your Experiments; SP-API report fields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Holiday Shopping 2025; dữ liệu Prime Big Deal Days 10/2025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(qua Accio): "resort wear dresses"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(du lịch mùa đông); The Knot (đám cưới ở nơi xa)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Critic, Ask MetaFilter, Life Well Cruised (insight)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đề listing đối thủ quan sát ngày 30/09/2026 (PRETTYGARDEN, ZESICA)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SIXDO × Amazon US – Kế hoạch bán hàng xuyên mùa</dc:title>
  <dc:subject>PptxGenJS Presentation</dc:subject>
  <dc:creator>[Tên đội]</dc:creator>
  <cp:lastModifiedBy>[Tên đội]</cp:lastModifiedBy>
  <cp:revision>1</cp:revision>
  <dcterms:created xsi:type="dcterms:W3CDTF">2026-09-30T04:59:32Z</dcterms:created>
  <dcterms:modified xsi:type="dcterms:W3CDTF">2026-09-30T04:59:32Z</dcterms:modified>
</cp:coreProperties>
</file>