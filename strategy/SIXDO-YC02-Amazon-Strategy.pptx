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1C2230"/>
              </a:solidFill>
              <a:ln w="19050" cap="flat">
                <a:solidFill>
                  <a:srgbClr val="FFFFFF"/>
                </a:solidFill>
                <a:prstDash val="solid"/>
                <a:round/>
              </a:ln>
              <a:effectLst/>
            </c:spPr>
          </c:dPt>
          <c:dPt>
            <c:idx val="1"/>
            <c:bubble3D val="0"/>
            <c:spPr>
              <a:solidFill>
                <a:srgbClr val="9A9DA5"/>
              </a:solidFill>
              <a:ln w="19050" cap="flat">
                <a:solidFill>
                  <a:srgbClr val="FFFFFF"/>
                </a:solidFill>
                <a:prstDash val="solid"/>
                <a:round/>
              </a:ln>
              <a:effectLst/>
            </c:spPr>
          </c:dPt>
          <c:dPt>
            <c:idx val="2"/>
            <c:bubble3D val="0"/>
            <c:spPr>
              <a:solidFill>
                <a:srgbClr val="B8546A"/>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Sponsored Products</c:v>
                </c:pt>
                <c:pt idx="1">
                  <c:v>A+ / Gallery</c:v>
                </c:pt>
                <c:pt idx="2">
                  <c:v>Coupon</c:v>
                </c:pt>
              </c:strCache>
            </c:strRef>
          </c:cat>
          <c:val>
            <c:numRef>
              <c:f>Sheet1!$B$2:$B$4</c:f>
              <c:numCache>
                <c:ptCount val="3"/>
                <c:pt idx="0">
                  <c:v>210</c:v>
                </c:pt>
                <c:pt idx="1">
                  <c:v>45</c:v>
                </c:pt>
                <c:pt idx="2">
                  <c:v>45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Budget $</c:v>
                </c:pt>
              </c:strCache>
            </c:strRef>
          </c:tx>
          <c:spPr>
            <a:solidFill>
              <a:srgbClr val="1C2230"/>
            </a:solidFill>
            <a:effectLst/>
          </c:spPr>
          <c:invertIfNegative val="0"/>
          <c:dLbls>
            <c:numFmt formatCode="$0" sourceLinked="0"/>
            <c:txPr>
              <a:bodyPr/>
              <a:lstStyle/>
              <a:p>
                <a:pPr>
                  <a:defRPr b="1" i="0" strike="noStrike" sz="900" u="none">
                    <a:solidFill>
                      <a:srgbClr val="1C2230"/>
                    </a:solidFill>
                    <a:latin typeface="Arial"/>
                  </a:defRPr>
                </a:pPr>
              </a:p>
            </c:txPr>
            <c:showLegendKey val="0"/>
            <c:showVal val="1"/>
            <c:showCatName val="0"/>
            <c:showSerName val="0"/>
            <c:showPercent val="0"/>
            <c:showBubbleSize val="0"/>
            <c:showLeaderLines val="0"/>
          </c:dLbls>
          <c:dPt>
            <c:idx val="0"/>
            <c:invertIfNegative val="0"/>
            <c:bubble3D val="0"/>
            <c:spPr>
              <a:solidFill>
                <a:srgbClr val="1C2230"/>
              </a:solidFill>
              <a:effectLst/>
            </c:spPr>
          </c:dPt>
          <c:dPt>
            <c:idx val="1"/>
            <c:invertIfNegative val="0"/>
            <c:bubble3D val="0"/>
            <c:spPr>
              <a:solidFill>
                <a:srgbClr val="B8546A"/>
              </a:solidFill>
              <a:effectLst/>
            </c:spPr>
          </c:dPt>
          <c:dPt>
            <c:idx val="2"/>
            <c:invertIfNegative val="0"/>
            <c:bubble3D val="0"/>
            <c:spPr>
              <a:solidFill>
                <a:srgbClr val="2B2B2B"/>
              </a:solidFill>
              <a:effectLst/>
            </c:spPr>
          </c:dPt>
          <c:dPt>
            <c:idx val="3"/>
            <c:invertIfNegative val="0"/>
            <c:bubble3D val="0"/>
            <c:spPr>
              <a:solidFill>
                <a:srgbClr val="4F6D8C"/>
              </a:solidFill>
              <a:effectLst/>
            </c:spPr>
          </c:dPt>
          <c:dPt>
            <c:idx val="4"/>
            <c:invertIfNegative val="0"/>
            <c:bubble3D val="0"/>
            <c:spPr>
              <a:solidFill>
                <a:srgbClr val="9A9DA5"/>
              </a:solidFill>
              <a:effectLst/>
            </c:spPr>
          </c:dPt>
          <c:dPt>
            <c:idx val="5"/>
            <c:invertIfNegative val="0"/>
            <c:bubble3D val="0"/>
            <c:spPr>
              <a:solidFill>
                <a:srgbClr val="C9CBD2"/>
              </a:solidFill>
              <a:effectLst/>
            </c:spPr>
          </c:dPt>
          <c:cat>
            <c:multiLvlStrRef>
              <c:f>Sheet1!$A$2:$A$7</c:f>
              <c:multiLvlStrCache>
                <c:ptCount val="6"/>
                <c:lvl>
                  <c:pt idx="0">
                    <c:v>Auto Discovery (3 ASINs)</c:v>
                  </c:pt>
                  <c:pt idx="1">
                    <c:v>Manual Exact/Phrase – SP2</c:v>
                  </c:pt>
                  <c:pt idx="2">
                    <c:v>Manual Exact/Phrase – SP3</c:v>
                  </c:pt>
                  <c:pt idx="3">
                    <c:v>Manual Exact/Phrase – SP1</c:v>
                  </c:pt>
                  <c:pt idx="4">
                    <c:v>Product Targeting</c:v>
                  </c:pt>
                  <c:pt idx="5">
                    <c:v>Winner Reserve / Seasonal Pulse</c:v>
                  </c:pt>
                </c:lvl>
              </c:multiLvlStrCache>
            </c:multiLvlStrRef>
          </c:cat>
          <c:val>
            <c:numRef>
              <c:f>Sheet1!$B$2:$B$7</c:f>
              <c:numCache>
                <c:formatCode>General</c:formatCode>
                <c:ptCount val="6"/>
                <c:pt idx="0">
                  <c:v>45</c:v>
                </c:pt>
                <c:pt idx="1">
                  <c:v>45</c:v>
                </c:pt>
                <c:pt idx="2">
                  <c:v>35</c:v>
                </c:pt>
                <c:pt idx="3">
                  <c:v>25</c:v>
                </c:pt>
                <c:pt idx="4">
                  <c:v>30</c:v>
                </c:pt>
                <c:pt idx="5">
                  <c:v>30</c:v>
                </c:pt>
              </c:numCache>
            </c:numRef>
          </c:val>
        </c:ser>
        <c:dLbls>
          <c:numFmt formatCode="$0" sourceLinked="0"/>
          <c:txPr>
            <a:bodyPr/>
            <a:lstStyle/>
            <a:p>
              <a:pPr>
                <a:defRPr b="1" i="0" strike="noStrike" sz="900" u="none">
                  <a:solidFill>
                    <a:srgbClr val="1C22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1C2230"/>
                </a:solidFill>
                <a:latin typeface="Calibri"/>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Target sold</c:v>
                </c:pt>
              </c:strCache>
            </c:strRef>
          </c:tx>
          <c:spPr>
            <a:solidFill>
              <a:srgbClr val="B8546A"/>
            </a:solidFill>
            <a:ln w="28575" cap="flat">
              <a:solidFill>
                <a:srgbClr val="B8546A"/>
              </a:solidFill>
              <a:prstDash val="solid,dash,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546A"/>
              </a:solidFill>
              <a:ln w="9525" cap="flat">
                <a:solidFill>
                  <a:srgbClr val="B8546A"/>
                </a:solidFill>
                <a:prstDash val="solid"/>
                <a:round/>
              </a:ln>
              <a:effectLst/>
            </c:spPr>
          </c:marker>
          <c:cat>
            <c:multiLvlStrRef>
              <c:f>Sheet1!$A$2:$A$7</c:f>
              <c:multiLvlStrCache>
                <c:ptCount val="6"/>
                <c:lvl>
                  <c:pt idx="0">
                    <c:v>Oct 1</c:v>
                  </c:pt>
                  <c:pt idx="1">
                    <c:v>Nov 30</c:v>
                  </c:pt>
                  <c:pt idx="2">
                    <c:v>Dec 31</c:v>
                  </c:pt>
                  <c:pt idx="3">
                    <c:v>Jan 31</c:v>
                  </c:pt>
                  <c:pt idx="4">
                    <c:v>Feb 28</c:v>
                  </c:pt>
                  <c:pt idx="5">
                    <c:v>Mar 31</c:v>
                  </c:pt>
                </c:lvl>
              </c:multiLvlStrCache>
            </c:multiLvlStrRef>
          </c:cat>
          <c:val>
            <c:numRef>
              <c:f>Sheet1!$B$2:$B$7</c:f>
              <c:numCache>
                <c:formatCode>General</c:formatCode>
                <c:ptCount val="6"/>
                <c:pt idx="0">
                  <c:v>0</c:v>
                </c:pt>
                <c:pt idx="1">
                  <c:v>28</c:v>
                </c:pt>
                <c:pt idx="2">
                  <c:v>50</c:v>
                </c:pt>
                <c:pt idx="3">
                  <c:v>72</c:v>
                </c:pt>
                <c:pt idx="4">
                  <c:v>88</c:v>
                </c:pt>
                <c:pt idx="5">
                  <c:v>99</c:v>
                </c:pt>
              </c:numCache>
            </c:numRef>
          </c:val>
          <c:smooth val="0"/>
        </c:ser>
        <c:ser>
          <c:idx val="1"/>
          <c:order val="1"/>
          <c:tx>
            <c:strRef>
              <c:f>Sheet1!$C$1</c:f>
              <c:strCache>
                <c:ptCount val="1"/>
                <c:pt idx="0">
                  <c:v>90% target (99)</c:v>
                </c:pt>
              </c:strCache>
            </c:strRef>
          </c:tx>
          <c:spPr>
            <a:solidFill>
              <a:srgbClr val="1C2230"/>
            </a:solidFill>
            <a:ln w="28575" cap="flat">
              <a:solidFill>
                <a:srgbClr val="1C2230"/>
              </a:solidFill>
              <a:prstDash val="solid,dash,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C2230"/>
              </a:solidFill>
              <a:ln w="9525" cap="flat">
                <a:solidFill>
                  <a:srgbClr val="1C2230"/>
                </a:solidFill>
                <a:prstDash val="solid"/>
                <a:round/>
              </a:ln>
              <a:effectLst/>
            </c:spPr>
          </c:marker>
          <c:cat>
            <c:multiLvlStrRef>
              <c:f>Sheet1!$A$2:$A$7</c:f>
              <c:multiLvlStrCache>
                <c:ptCount val="6"/>
                <c:lvl>
                  <c:pt idx="0">
                    <c:v>Oct 1</c:v>
                  </c:pt>
                  <c:pt idx="1">
                    <c:v>Nov 30</c:v>
                  </c:pt>
                  <c:pt idx="2">
                    <c:v>Dec 31</c:v>
                  </c:pt>
                  <c:pt idx="3">
                    <c:v>Jan 31</c:v>
                  </c:pt>
                  <c:pt idx="4">
                    <c:v>Feb 28</c:v>
                  </c:pt>
                  <c:pt idx="5">
                    <c:v>Mar 31</c:v>
                  </c:pt>
                </c:lvl>
              </c:multiLvlStrCache>
            </c:multiLvlStrRef>
          </c:cat>
          <c:val>
            <c:numRef>
              <c:f>Sheet1!$C$2:$C$7</c:f>
              <c:numCache>
                <c:formatCode>General</c:formatCode>
                <c:ptCount val="6"/>
                <c:pt idx="0">
                  <c:v>99</c:v>
                </c:pt>
                <c:pt idx="1">
                  <c:v>99</c:v>
                </c:pt>
                <c:pt idx="2">
                  <c:v>99</c:v>
                </c:pt>
                <c:pt idx="3">
                  <c:v>99</c:v>
                </c:pt>
                <c:pt idx="4">
                  <c:v>99</c:v>
                </c:pt>
                <c:pt idx="5">
                  <c:v>99</c:v>
                </c:pt>
              </c:numCache>
            </c:numRef>
          </c:val>
          <c:smooth val="0"/>
        </c:ser>
        <c:ser>
          <c:idx val="2"/>
          <c:order val="2"/>
          <c:tx>
            <c:strRef>
              <c:f>Sheet1!$D$1</c:f>
              <c:strCache>
                <c:ptCount val="1"/>
                <c:pt idx="0">
                  <c:v>Total stock (110)</c:v>
                </c:pt>
              </c:strCache>
            </c:strRef>
          </c:tx>
          <c:spPr>
            <a:solidFill>
              <a:srgbClr val="C9CBD2"/>
            </a:solidFill>
            <a:ln w="28575" cap="flat">
              <a:solidFill>
                <a:srgbClr val="C9CBD2"/>
              </a:solidFill>
              <a:prstDash val="solid,dash,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CBD2"/>
              </a:solidFill>
              <a:ln w="9525" cap="flat">
                <a:solidFill>
                  <a:srgbClr val="C9CBD2"/>
                </a:solidFill>
                <a:prstDash val="solid"/>
                <a:round/>
              </a:ln>
              <a:effectLst/>
            </c:spPr>
          </c:marker>
          <c:cat>
            <c:multiLvlStrRef>
              <c:f>Sheet1!$A$2:$A$7</c:f>
              <c:multiLvlStrCache>
                <c:ptCount val="6"/>
                <c:lvl>
                  <c:pt idx="0">
                    <c:v>Oct 1</c:v>
                  </c:pt>
                  <c:pt idx="1">
                    <c:v>Nov 30</c:v>
                  </c:pt>
                  <c:pt idx="2">
                    <c:v>Dec 31</c:v>
                  </c:pt>
                  <c:pt idx="3">
                    <c:v>Jan 31</c:v>
                  </c:pt>
                  <c:pt idx="4">
                    <c:v>Feb 28</c:v>
                  </c:pt>
                  <c:pt idx="5">
                    <c:v>Mar 31</c:v>
                  </c:pt>
                </c:lvl>
              </c:multiLvlStrCache>
            </c:multiLvlStrRef>
          </c:cat>
          <c:val>
            <c:numRef>
              <c:f>Sheet1!$D$2:$D$7</c:f>
              <c:numCache>
                <c:formatCode>General</c:formatCode>
                <c:ptCount val="6"/>
                <c:pt idx="0">
                  <c:v>110</c:v>
                </c:pt>
                <c:pt idx="1">
                  <c:v>110</c:v>
                </c:pt>
                <c:pt idx="2">
                  <c:v>110</c:v>
                </c:pt>
                <c:pt idx="3">
                  <c:v>110</c:v>
                </c:pt>
                <c:pt idx="4">
                  <c:v>110</c:v>
                </c:pt>
                <c:pt idx="5">
                  <c:v>110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C2230"/>
                </a:solidFill>
                <a:latin typeface="Arial"/>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EC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F76"/>
                </a:solidFill>
                <a:latin typeface="Arial"/>
              </a:defRPr>
            </a:pPr>
            <a:endParaRPr lang="en-US"/>
          </a:p>
        </c:txPr>
        <c:crossAx val="2094734554"/>
        <c:crosses val="autoZero"/>
        <c:crossBetween val="between"/>
        <c:majorUnit val="30"/>
      </c:valAx>
      <c:spPr>
        <a:noFill/>
        <a:ln>
          <a:noFill/>
        </a:ln>
        <a:effectLst/>
      </c:spPr>
    </c:plotArea>
    <c:legend>
      <c:legendPos val="b"/>
      <c:overlay val="0"/>
      <c:txPr>
        <a:bodyPr/>
        <a:lstStyle/>
        <a:p>
          <a:pPr>
            <a:defRPr sz="800">
              <a:solidFill>
                <a:srgbClr val="6B6F7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tôi không cố thuyết phục khách mua đồ hè cho mùa đông. Chúng tôi tìm những dịp trong mùa đông vẫn cần đúng những bộ đồ này, và giao cho mỗi ASIN một nhiệm vụ riêng, với SP2 là mũi nhọn.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$1.15/ngày cho PPC, một click không chuyển đổi là một click lãng phí. Vì vậy chúng tôi sửa trang sản phẩm trước: đúng dịp, đúng sự thật, đủ thông tin size. Sau đó mới trả tiền cho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không đủ để mua độ phủ, nên chúng tôi mua ý định mua hàng. Mỗi đô la PPC chỉ được tiêu dưới trần CPC do ACOS guardrail đặt ra. Coupon được dùng có mục tiêu, không dùng để giảm giá đại trà. Tỷ trọng 45/35/20 là ưu tiên ban đầu; các pool dùng chung (Auto, Product Targeting, Reserve) co giãn để đạt tỷ trọng này và được phân bổ lại sau Day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 hoạch này tự điều chỉnh theo dữ liệu: tuần nào cũng đọc cùng một bộ tín hiệu và áp cùng 5 quy tắc. Nhờ vậy một team nhỏ vẫn giữ được đường tiêu thụ 99/110 và mục tiêu CVR ×1.5 trong 182 ngày. Đường tiêu thụ là management target; tồn kho quản lý theo child SKU.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572000" cy="228600"/>
          </a:xfrm>
          <a:prstGeom prst="rect">
            <a:avLst/>
          </a:prstGeom>
          <a:noFill/>
          <a:ln/>
        </p:spPr>
        <p:txBody>
          <a:bodyPr wrap="square" lIns="0" tIns="0" rIns="0" bIns="0" rtlCol="0" anchor="t"/>
          <a:lstStyle/>
          <a:p>
            <a:pPr indent="0" marL="0">
              <a:buNone/>
            </a:pPr>
            <a:r>
              <a:rPr lang="en-US" sz="900" b="1" spc="200" kern="0" dirty="0">
                <a:solidFill>
                  <a:srgbClr val="B8546A"/>
                </a:solidFill>
                <a:latin typeface="Calibri" pitchFamily="34" charset="0"/>
                <a:ea typeface="Calibri" pitchFamily="34" charset="-122"/>
                <a:cs typeface="Calibri" pitchFamily="34" charset="-120"/>
              </a:rPr>
              <a:t>WHY</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WHAT</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HOW</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CONTROL</a:t>
            </a:r>
            <a:endParaRPr lang="en-US" sz="900" dirty="0"/>
          </a:p>
        </p:txBody>
      </p:sp>
      <p:sp>
        <p:nvSpPr>
          <p:cNvPr id="3" name="Text 1"/>
          <p:cNvSpPr txBox="1"/>
          <p:nvPr/>
        </p:nvSpPr>
        <p:spPr>
          <a:xfrm>
            <a:off x="7208215" y="201168"/>
            <a:ext cx="4572000" cy="228600"/>
          </a:xfrm>
          <a:prstGeom prst="rect">
            <a:avLst/>
          </a:prstGeom>
          <a:noFill/>
          <a:ln/>
        </p:spPr>
        <p:txBody>
          <a:bodyPr wrap="square" lIns="0" tIns="0" rIns="0" bIns="0" rtlCol="0" anchor="t"/>
          <a:lstStyle/>
          <a:p>
            <a:pPr algn="r" indent="0" marL="0">
              <a:buNone/>
            </a:pPr>
            <a:r>
              <a:rPr lang="en-US" sz="900" spc="100" kern="0" dirty="0">
                <a:solidFill>
                  <a:srgbClr val="A3A6AC"/>
                </a:solidFill>
                <a:latin typeface="Calibri" pitchFamily="34" charset="0"/>
                <a:ea typeface="Calibri" pitchFamily="34" charset="-122"/>
                <a:cs typeface="Calibri" pitchFamily="34" charset="-120"/>
              </a:rPr>
              <a:t>SIXDO × AMAZON US  |  YÊU CẦU 02  |  1 / 4</a:t>
            </a:r>
            <a:endParaRPr lang="en-US" sz="900" dirty="0"/>
          </a:p>
        </p:txBody>
      </p:sp>
      <p:sp>
        <p:nvSpPr>
          <p:cNvPr id="4" name="Text 2"/>
          <p:cNvSpPr txBox="1"/>
          <p:nvPr/>
        </p:nvSpPr>
        <p:spPr>
          <a:xfrm>
            <a:off x="411480" y="457200"/>
            <a:ext cx="11368735" cy="777240"/>
          </a:xfrm>
          <a:prstGeom prst="rect">
            <a:avLst/>
          </a:prstGeom>
          <a:noFill/>
          <a:ln/>
        </p:spPr>
        <p:txBody>
          <a:bodyPr wrap="square" lIns="0" tIns="0" rIns="0" bIns="0" rtlCol="0" anchor="ctr"/>
          <a:lstStyle/>
          <a:p>
            <a:pPr indent="0" marL="0">
              <a:buNone/>
            </a:pPr>
            <a:r>
              <a:rPr lang="en-US" sz="2300" b="1" dirty="0">
                <a:solidFill>
                  <a:srgbClr val="1C2230"/>
                </a:solidFill>
                <a:latin typeface="Cambria" pitchFamily="34" charset="0"/>
                <a:ea typeface="Cambria" pitchFamily="34" charset="-122"/>
                <a:cs typeface="Cambria" pitchFamily="34" charset="-120"/>
              </a:rPr>
              <a:t>Repackage the Occasion, Not the Product: SP2 anchors Q4–Q1 demand while SP1 and SP3 capture travel and party long-tails</a:t>
            </a:r>
            <a:endParaRPr lang="en-US" sz="2300" dirty="0"/>
          </a:p>
        </p:txBody>
      </p:sp>
      <p:sp>
        <p:nvSpPr>
          <p:cNvPr id="5" name="Text 3"/>
          <p:cNvSpPr txBox="1"/>
          <p:nvPr/>
        </p:nvSpPr>
        <p:spPr>
          <a:xfrm>
            <a:off x="411480" y="1243584"/>
            <a:ext cx="11368735" cy="274320"/>
          </a:xfrm>
          <a:prstGeom prst="rect">
            <a:avLst/>
          </a:prstGeom>
          <a:noFill/>
          <a:ln/>
        </p:spPr>
        <p:txBody>
          <a:bodyPr wrap="square" lIns="0" tIns="0" rIns="0" bIns="0" rtlCol="0" anchor="t"/>
          <a:lstStyle/>
          <a:p>
            <a:pPr indent="0" marL="0">
              <a:buNone/>
            </a:pPr>
            <a:r>
              <a:rPr lang="en-US" sz="1250" i="1" dirty="0">
                <a:solidFill>
                  <a:srgbClr val="6B6F76"/>
                </a:solidFill>
                <a:latin typeface="Calibri" pitchFamily="34" charset="0"/>
                <a:ea typeface="Calibri" pitchFamily="34" charset="-122"/>
                <a:cs typeface="Calibri" pitchFamily="34" charset="-120"/>
              </a:rPr>
              <a:t>110 Spring/Summer units · 182 days · $300 onsite · zero physical changes → sell to occasions that still buy in winter.</a:t>
            </a:r>
            <a:endParaRPr lang="en-US" sz="1250" dirty="0"/>
          </a:p>
        </p:txBody>
      </p:sp>
      <p:sp>
        <p:nvSpPr>
          <p:cNvPr id="6" name="Text 4"/>
          <p:cNvSpPr txBox="1"/>
          <p:nvPr/>
        </p:nvSpPr>
        <p:spPr>
          <a:xfrm>
            <a:off x="411480" y="1664208"/>
            <a:ext cx="2560320"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THE CHALLENGE</a:t>
            </a:r>
            <a:endParaRPr lang="en-US" sz="900" dirty="0"/>
          </a:p>
        </p:txBody>
      </p:sp>
      <p:sp>
        <p:nvSpPr>
          <p:cNvPr id="7" name="Shape 5"/>
          <p:cNvSpPr/>
          <p:nvPr/>
        </p:nvSpPr>
        <p:spPr>
          <a:xfrm>
            <a:off x="411480" y="1920240"/>
            <a:ext cx="2606040" cy="512064"/>
          </a:xfrm>
          <a:prstGeom prst="roundRect">
            <a:avLst>
              <a:gd name="adj" fmla="val 8929"/>
            </a:avLst>
          </a:prstGeom>
          <a:solidFill>
            <a:srgbClr val="F3F3F5"/>
          </a:solidFill>
          <a:ln/>
        </p:spPr>
      </p:sp>
      <p:sp>
        <p:nvSpPr>
          <p:cNvPr id="8" name="Text 6"/>
          <p:cNvSpPr txBox="1"/>
          <p:nvPr/>
        </p:nvSpPr>
        <p:spPr>
          <a:xfrm>
            <a:off x="521208" y="1920240"/>
            <a:ext cx="868680" cy="512064"/>
          </a:xfrm>
          <a:prstGeom prst="rect">
            <a:avLst/>
          </a:prstGeom>
          <a:noFill/>
          <a:ln/>
        </p:spPr>
        <p:txBody>
          <a:bodyPr wrap="square" lIns="0" tIns="0" rIns="0" bIns="0" rtlCol="0" anchor="ctr"/>
          <a:lstStyle/>
          <a:p>
            <a:pPr indent="0" marL="0">
              <a:buNone/>
            </a:pPr>
            <a:r>
              <a:rPr lang="en-US" sz="2200" b="1" dirty="0">
                <a:solidFill>
                  <a:srgbClr val="B8546A"/>
                </a:solidFill>
                <a:latin typeface="Calibri" pitchFamily="34" charset="0"/>
                <a:ea typeface="Calibri" pitchFamily="34" charset="-122"/>
                <a:cs typeface="Calibri" pitchFamily="34" charset="-120"/>
              </a:rPr>
              <a:t>110</a:t>
            </a:r>
            <a:endParaRPr lang="en-US" sz="2200" dirty="0"/>
          </a:p>
        </p:txBody>
      </p:sp>
      <p:sp>
        <p:nvSpPr>
          <p:cNvPr id="9" name="Text 7"/>
          <p:cNvSpPr txBox="1"/>
          <p:nvPr/>
        </p:nvSpPr>
        <p:spPr>
          <a:xfrm>
            <a:off x="1399032" y="1920240"/>
            <a:ext cx="1554480" cy="512064"/>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seasonal units across 3 ASINs</a:t>
            </a:r>
            <a:endParaRPr lang="en-US" sz="950" dirty="0"/>
          </a:p>
        </p:txBody>
      </p:sp>
      <p:sp>
        <p:nvSpPr>
          <p:cNvPr id="10" name="Shape 8"/>
          <p:cNvSpPr/>
          <p:nvPr/>
        </p:nvSpPr>
        <p:spPr>
          <a:xfrm>
            <a:off x="411480" y="2505456"/>
            <a:ext cx="2606040" cy="512064"/>
          </a:xfrm>
          <a:prstGeom prst="roundRect">
            <a:avLst>
              <a:gd name="adj" fmla="val 8929"/>
            </a:avLst>
          </a:prstGeom>
          <a:solidFill>
            <a:srgbClr val="F3F3F5"/>
          </a:solidFill>
          <a:ln/>
        </p:spPr>
      </p:sp>
      <p:sp>
        <p:nvSpPr>
          <p:cNvPr id="11" name="Text 9"/>
          <p:cNvSpPr txBox="1"/>
          <p:nvPr/>
        </p:nvSpPr>
        <p:spPr>
          <a:xfrm>
            <a:off x="521208" y="2505456"/>
            <a:ext cx="868680" cy="512064"/>
          </a:xfrm>
          <a:prstGeom prst="rect">
            <a:avLst/>
          </a:prstGeom>
          <a:noFill/>
          <a:ln/>
        </p:spPr>
        <p:txBody>
          <a:bodyPr wrap="square" lIns="0" tIns="0" rIns="0" bIns="0" rtlCol="0" anchor="ctr"/>
          <a:lstStyle/>
          <a:p>
            <a:pPr indent="0" marL="0">
              <a:buNone/>
            </a:pPr>
            <a:r>
              <a:rPr lang="en-US" sz="2200" b="1" dirty="0">
                <a:solidFill>
                  <a:srgbClr val="B8546A"/>
                </a:solidFill>
                <a:latin typeface="Calibri" pitchFamily="34" charset="0"/>
                <a:ea typeface="Calibri" pitchFamily="34" charset="-122"/>
                <a:cs typeface="Calibri" pitchFamily="34" charset="-120"/>
              </a:rPr>
              <a:t>182</a:t>
            </a:r>
            <a:endParaRPr lang="en-US" sz="2200" dirty="0"/>
          </a:p>
        </p:txBody>
      </p:sp>
      <p:sp>
        <p:nvSpPr>
          <p:cNvPr id="12" name="Text 10"/>
          <p:cNvSpPr txBox="1"/>
          <p:nvPr/>
        </p:nvSpPr>
        <p:spPr>
          <a:xfrm>
            <a:off x="1399032" y="2505456"/>
            <a:ext cx="1554480" cy="512064"/>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days · Oct 1, 2026 → Mar 31, 2027</a:t>
            </a:r>
            <a:endParaRPr lang="en-US" sz="950" dirty="0"/>
          </a:p>
        </p:txBody>
      </p:sp>
      <p:sp>
        <p:nvSpPr>
          <p:cNvPr id="13" name="Shape 11"/>
          <p:cNvSpPr/>
          <p:nvPr/>
        </p:nvSpPr>
        <p:spPr>
          <a:xfrm>
            <a:off x="411480" y="3090672"/>
            <a:ext cx="2606040" cy="512064"/>
          </a:xfrm>
          <a:prstGeom prst="roundRect">
            <a:avLst>
              <a:gd name="adj" fmla="val 8929"/>
            </a:avLst>
          </a:prstGeom>
          <a:solidFill>
            <a:srgbClr val="F3F3F5"/>
          </a:solidFill>
          <a:ln/>
        </p:spPr>
      </p:sp>
      <p:sp>
        <p:nvSpPr>
          <p:cNvPr id="14" name="Text 12"/>
          <p:cNvSpPr txBox="1"/>
          <p:nvPr/>
        </p:nvSpPr>
        <p:spPr>
          <a:xfrm>
            <a:off x="521208" y="3090672"/>
            <a:ext cx="868680" cy="512064"/>
          </a:xfrm>
          <a:prstGeom prst="rect">
            <a:avLst/>
          </a:prstGeom>
          <a:noFill/>
          <a:ln/>
        </p:spPr>
        <p:txBody>
          <a:bodyPr wrap="square" lIns="0" tIns="0" rIns="0" bIns="0" rtlCol="0" anchor="ctr"/>
          <a:lstStyle/>
          <a:p>
            <a:pPr indent="0" marL="0">
              <a:buNone/>
            </a:pPr>
            <a:r>
              <a:rPr lang="en-US" sz="2200" b="1" dirty="0">
                <a:solidFill>
                  <a:srgbClr val="B8546A"/>
                </a:solidFill>
                <a:latin typeface="Calibri" pitchFamily="34" charset="0"/>
                <a:ea typeface="Calibri" pitchFamily="34" charset="-122"/>
                <a:cs typeface="Calibri" pitchFamily="34" charset="-120"/>
              </a:rPr>
              <a:t>$300</a:t>
            </a:r>
            <a:endParaRPr lang="en-US" sz="2200" dirty="0"/>
          </a:p>
        </p:txBody>
      </p:sp>
      <p:sp>
        <p:nvSpPr>
          <p:cNvPr id="15" name="Text 13"/>
          <p:cNvSpPr txBox="1"/>
          <p:nvPr/>
        </p:nvSpPr>
        <p:spPr>
          <a:xfrm>
            <a:off x="1399032" y="3090672"/>
            <a:ext cx="1554480" cy="512064"/>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Amazon onsite budget (≈ $1.65/day)</a:t>
            </a:r>
            <a:endParaRPr lang="en-US" sz="950" dirty="0"/>
          </a:p>
        </p:txBody>
      </p:sp>
      <p:sp>
        <p:nvSpPr>
          <p:cNvPr id="16" name="Shape 14"/>
          <p:cNvSpPr/>
          <p:nvPr/>
        </p:nvSpPr>
        <p:spPr>
          <a:xfrm>
            <a:off x="411480" y="3675888"/>
            <a:ext cx="2606040" cy="512064"/>
          </a:xfrm>
          <a:prstGeom prst="roundRect">
            <a:avLst>
              <a:gd name="adj" fmla="val 8929"/>
            </a:avLst>
          </a:prstGeom>
          <a:solidFill>
            <a:srgbClr val="F3F3F5"/>
          </a:solidFill>
          <a:ln/>
        </p:spPr>
      </p:sp>
      <p:sp>
        <p:nvSpPr>
          <p:cNvPr id="17" name="Text 15"/>
          <p:cNvSpPr txBox="1"/>
          <p:nvPr/>
        </p:nvSpPr>
        <p:spPr>
          <a:xfrm>
            <a:off x="521208" y="3675888"/>
            <a:ext cx="868680" cy="512064"/>
          </a:xfrm>
          <a:prstGeom prst="rect">
            <a:avLst/>
          </a:prstGeom>
          <a:noFill/>
          <a:ln/>
        </p:spPr>
        <p:txBody>
          <a:bodyPr wrap="square" lIns="0" tIns="0" rIns="0" bIns="0" rtlCol="0" anchor="ctr"/>
          <a:lstStyle/>
          <a:p>
            <a:pPr indent="0" marL="0">
              <a:buNone/>
            </a:pPr>
            <a:r>
              <a:rPr lang="en-US" sz="2200" b="1" dirty="0">
                <a:solidFill>
                  <a:srgbClr val="B8546A"/>
                </a:solidFill>
                <a:latin typeface="Calibri" pitchFamily="34" charset="0"/>
                <a:ea typeface="Calibri" pitchFamily="34" charset="-122"/>
                <a:cs typeface="Calibri" pitchFamily="34" charset="-120"/>
              </a:rPr>
              <a:t>0</a:t>
            </a:r>
            <a:endParaRPr lang="en-US" sz="2200" dirty="0"/>
          </a:p>
        </p:txBody>
      </p:sp>
      <p:sp>
        <p:nvSpPr>
          <p:cNvPr id="18" name="Text 16"/>
          <p:cNvSpPr txBox="1"/>
          <p:nvPr/>
        </p:nvSpPr>
        <p:spPr>
          <a:xfrm>
            <a:off x="1399032" y="3675888"/>
            <a:ext cx="1554480" cy="512064"/>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physical product changes allowed</a:t>
            </a:r>
            <a:endParaRPr lang="en-US" sz="950" dirty="0"/>
          </a:p>
        </p:txBody>
      </p:sp>
      <p:sp>
        <p:nvSpPr>
          <p:cNvPr id="19" name="Text 17"/>
          <p:cNvSpPr txBox="1"/>
          <p:nvPr/>
        </p:nvSpPr>
        <p:spPr>
          <a:xfrm>
            <a:off x="3246120" y="1664208"/>
            <a:ext cx="2743200"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THE REFRAME</a:t>
            </a:r>
            <a:endParaRPr lang="en-US" sz="900" dirty="0"/>
          </a:p>
        </p:txBody>
      </p:sp>
      <p:sp>
        <p:nvSpPr>
          <p:cNvPr id="20" name="Shape 18"/>
          <p:cNvSpPr/>
          <p:nvPr/>
        </p:nvSpPr>
        <p:spPr>
          <a:xfrm>
            <a:off x="3246120" y="1920240"/>
            <a:ext cx="1874520" cy="868680"/>
          </a:xfrm>
          <a:prstGeom prst="roundRect">
            <a:avLst>
              <a:gd name="adj" fmla="val 6316"/>
            </a:avLst>
          </a:prstGeom>
          <a:solidFill>
            <a:srgbClr val="F3F3F5"/>
          </a:solidFill>
          <a:ln w="12700">
            <a:solidFill>
              <a:srgbClr val="D9DADF"/>
            </a:solidFill>
            <a:prstDash val="solid"/>
          </a:ln>
        </p:spPr>
      </p:sp>
      <p:sp>
        <p:nvSpPr>
          <p:cNvPr id="21" name="Text 19"/>
          <p:cNvSpPr txBox="1"/>
          <p:nvPr/>
        </p:nvSpPr>
        <p:spPr>
          <a:xfrm>
            <a:off x="3355848" y="1920240"/>
            <a:ext cx="1691640" cy="868680"/>
          </a:xfrm>
          <a:prstGeom prst="rect">
            <a:avLst/>
          </a:prstGeom>
          <a:noFill/>
          <a:ln/>
        </p:spPr>
        <p:txBody>
          <a:bodyPr wrap="square" lIns="0" tIns="0" rIns="0" bIns="0" rtlCol="0" anchor="ctr"/>
          <a:lstStyle/>
          <a:p>
            <a:pPr indent="0" marL="0">
              <a:buNone/>
            </a:pPr>
            <a:r>
              <a:rPr lang="en-US" sz="1200" b="1" dirty="0">
                <a:solidFill>
                  <a:srgbClr val="6B6F76"/>
                </a:solidFill>
                <a:latin typeface="Calibri" pitchFamily="34" charset="0"/>
                <a:ea typeface="Calibri" pitchFamily="34" charset="-122"/>
                <a:cs typeface="Calibri" pitchFamily="34" charset="-120"/>
              </a:rPr>
              <a:t>Spring/Summer product</a:t>
            </a:r>
            <a:endParaRPr lang="en-US" sz="1100" dirty="0"/>
          </a:p>
          <a:p>
            <a:pPr indent="0" marL="0">
              <a:buNone/>
            </a:pPr>
            <a:r>
              <a:rPr lang="en-US" sz="900" dirty="0">
                <a:solidFill>
                  <a:srgbClr val="6B6F76"/>
                </a:solidFill>
                <a:latin typeface="Calibri" pitchFamily="34" charset="0"/>
                <a:ea typeface="Calibri" pitchFamily="34" charset="-122"/>
                <a:cs typeface="Calibri" pitchFamily="34" charset="-120"/>
              </a:rPr>
              <a:t>sold by season → “out of season” in Q4</a:t>
            </a:r>
            <a:endParaRPr lang="en-US" sz="1100" dirty="0"/>
          </a:p>
        </p:txBody>
      </p:sp>
      <p:sp>
        <p:nvSpPr>
          <p:cNvPr id="22" name="Shape 20"/>
          <p:cNvSpPr/>
          <p:nvPr/>
        </p:nvSpPr>
        <p:spPr>
          <a:xfrm>
            <a:off x="5212080" y="2194560"/>
            <a:ext cx="502920" cy="320040"/>
          </a:xfrm>
          <a:prstGeom prst="rightArrow">
            <a:avLst/>
          </a:prstGeom>
          <a:solidFill>
            <a:srgbClr val="B8546A"/>
          </a:solidFill>
          <a:ln/>
        </p:spPr>
      </p:sp>
      <p:sp>
        <p:nvSpPr>
          <p:cNvPr id="23" name="Shape 21"/>
          <p:cNvSpPr/>
          <p:nvPr/>
        </p:nvSpPr>
        <p:spPr>
          <a:xfrm>
            <a:off x="5806440" y="1920240"/>
            <a:ext cx="2148840" cy="868680"/>
          </a:xfrm>
          <a:prstGeom prst="roundRect">
            <a:avLst>
              <a:gd name="adj" fmla="val 6316"/>
            </a:avLst>
          </a:prstGeom>
          <a:solidFill>
            <a:srgbClr val="B8546A"/>
          </a:solidFill>
          <a:ln/>
        </p:spPr>
      </p:sp>
      <p:sp>
        <p:nvSpPr>
          <p:cNvPr id="24" name="Text 22"/>
          <p:cNvSpPr txBox="1"/>
          <p:nvPr/>
        </p:nvSpPr>
        <p:spPr>
          <a:xfrm>
            <a:off x="5916168" y="1920240"/>
            <a:ext cx="196596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Occasion-led demand</a:t>
            </a:r>
            <a:endParaRPr lang="en-US" sz="1100" dirty="0"/>
          </a:p>
          <a:p>
            <a:pPr indent="0" marL="0">
              <a:buNone/>
            </a:pPr>
            <a:r>
              <a:rPr lang="en-US" sz="900" dirty="0">
                <a:solidFill>
                  <a:srgbClr val="FFFFFF"/>
                </a:solidFill>
                <a:latin typeface="Calibri" pitchFamily="34" charset="0"/>
                <a:ea typeface="Calibri" pitchFamily="34" charset="-122"/>
                <a:cs typeface="Calibri" pitchFamily="34" charset="-120"/>
              </a:rPr>
              <a:t>sold by why she needs it now</a:t>
            </a:r>
            <a:endParaRPr lang="en-US" sz="1100" dirty="0"/>
          </a:p>
        </p:txBody>
      </p:sp>
      <p:sp>
        <p:nvSpPr>
          <p:cNvPr id="25" name="Text 23"/>
          <p:cNvSpPr txBox="1"/>
          <p:nvPr/>
        </p:nvSpPr>
        <p:spPr>
          <a:xfrm>
            <a:off x="3246120" y="2926080"/>
            <a:ext cx="548640" cy="566928"/>
          </a:xfrm>
          <a:prstGeom prst="rect">
            <a:avLst/>
          </a:prstGeom>
          <a:noFill/>
          <a:ln/>
        </p:spPr>
        <p:txBody>
          <a:bodyPr wrap="square" lIns="0" tIns="0" rIns="0" bIns="0" rtlCol="0" anchor="ctr"/>
          <a:lstStyle/>
          <a:p>
            <a:pPr indent="0" marL="0">
              <a:buNone/>
            </a:pPr>
            <a:r>
              <a:rPr lang="en-US" sz="1000" b="1" dirty="0">
                <a:solidFill>
                  <a:srgbClr val="1C2230"/>
                </a:solidFill>
                <a:latin typeface="Calibri" pitchFamily="34" charset="0"/>
                <a:ea typeface="Calibri" pitchFamily="34" charset="-122"/>
                <a:cs typeface="Calibri" pitchFamily="34" charset="-120"/>
              </a:rPr>
              <a:t>Q4</a:t>
            </a:r>
            <a:endParaRPr lang="en-US" sz="1100" dirty="0"/>
          </a:p>
          <a:p>
            <a:pPr indent="0" marL="0">
              <a:buNone/>
            </a:pPr>
            <a:r>
              <a:rPr lang="en-US" sz="800" dirty="0">
                <a:solidFill>
                  <a:srgbClr val="6B6F76"/>
                </a:solidFill>
                <a:latin typeface="Calibri" pitchFamily="34" charset="0"/>
                <a:ea typeface="Calibri" pitchFamily="34" charset="-122"/>
                <a:cs typeface="Calibri" pitchFamily="34" charset="-120"/>
              </a:rPr>
              <a:t>Oct–Dec</a:t>
            </a:r>
            <a:endParaRPr lang="en-US" sz="1100" dirty="0"/>
          </a:p>
        </p:txBody>
      </p:sp>
      <p:sp>
        <p:nvSpPr>
          <p:cNvPr id="26" name="Shape 24"/>
          <p:cNvSpPr/>
          <p:nvPr/>
        </p:nvSpPr>
        <p:spPr>
          <a:xfrm>
            <a:off x="3840480" y="2999232"/>
            <a:ext cx="822960" cy="420624"/>
          </a:xfrm>
          <a:prstGeom prst="roundRect">
            <a:avLst>
              <a:gd name="adj" fmla="val 43478"/>
            </a:avLst>
          </a:prstGeom>
          <a:solidFill>
            <a:srgbClr val="F6E9EC"/>
          </a:solidFill>
          <a:ln/>
        </p:spPr>
      </p:sp>
      <p:sp>
        <p:nvSpPr>
          <p:cNvPr id="27" name="Text 25"/>
          <p:cNvSpPr txBox="1"/>
          <p:nvPr/>
        </p:nvSpPr>
        <p:spPr>
          <a:xfrm>
            <a:off x="3840480" y="2999232"/>
            <a:ext cx="822960" cy="420624"/>
          </a:xfrm>
          <a:prstGeom prst="rect">
            <a:avLst/>
          </a:prstGeom>
          <a:noFill/>
          <a:ln/>
        </p:spPr>
        <p:txBody>
          <a:bodyPr wrap="square" lIns="0" tIns="0" rIns="0" bIns="0" rtlCol="0" anchor="ctr"/>
          <a:lstStyle/>
          <a:p>
            <a:pPr algn="ctr" indent="0" marL="0">
              <a:buNone/>
            </a:pPr>
            <a:r>
              <a:rPr lang="en-US" sz="850" b="1" dirty="0">
                <a:solidFill>
                  <a:srgbClr val="B8546A"/>
                </a:solidFill>
                <a:latin typeface="Calibri" pitchFamily="34" charset="0"/>
                <a:ea typeface="Calibri" pitchFamily="34" charset="-122"/>
                <a:cs typeface="Calibri" pitchFamily="34" charset="-120"/>
              </a:rPr>
              <a:t>Resort &amp; Cruise</a:t>
            </a:r>
            <a:endParaRPr lang="en-US" sz="850" dirty="0"/>
          </a:p>
        </p:txBody>
      </p:sp>
      <p:sp>
        <p:nvSpPr>
          <p:cNvPr id="28" name="Shape 26"/>
          <p:cNvSpPr/>
          <p:nvPr/>
        </p:nvSpPr>
        <p:spPr>
          <a:xfrm>
            <a:off x="4736592" y="2999232"/>
            <a:ext cx="1097280" cy="420624"/>
          </a:xfrm>
          <a:prstGeom prst="roundRect">
            <a:avLst>
              <a:gd name="adj" fmla="val 43478"/>
            </a:avLst>
          </a:prstGeom>
          <a:solidFill>
            <a:srgbClr val="F6E9EC"/>
          </a:solidFill>
          <a:ln/>
        </p:spPr>
      </p:sp>
      <p:sp>
        <p:nvSpPr>
          <p:cNvPr id="29" name="Text 27"/>
          <p:cNvSpPr txBox="1"/>
          <p:nvPr/>
        </p:nvSpPr>
        <p:spPr>
          <a:xfrm>
            <a:off x="4736592" y="2999232"/>
            <a:ext cx="1097280" cy="420624"/>
          </a:xfrm>
          <a:prstGeom prst="rect">
            <a:avLst/>
          </a:prstGeom>
          <a:noFill/>
          <a:ln/>
        </p:spPr>
        <p:txBody>
          <a:bodyPr wrap="square" lIns="0" tIns="0" rIns="0" bIns="0" rtlCol="0" anchor="ctr"/>
          <a:lstStyle/>
          <a:p>
            <a:pPr algn="ctr" indent="0" marL="0">
              <a:buNone/>
            </a:pPr>
            <a:r>
              <a:rPr lang="en-US" sz="850" b="1" dirty="0">
                <a:solidFill>
                  <a:srgbClr val="B8546A"/>
                </a:solidFill>
                <a:latin typeface="Calibri" pitchFamily="34" charset="0"/>
                <a:ea typeface="Calibri" pitchFamily="34" charset="-122"/>
                <a:cs typeface="Calibri" pitchFamily="34" charset="-120"/>
              </a:rPr>
              <a:t>Fall/Winter Wedding Guest</a:t>
            </a:r>
            <a:endParaRPr lang="en-US" sz="850" dirty="0"/>
          </a:p>
        </p:txBody>
      </p:sp>
      <p:sp>
        <p:nvSpPr>
          <p:cNvPr id="30" name="Shape 28"/>
          <p:cNvSpPr/>
          <p:nvPr/>
        </p:nvSpPr>
        <p:spPr>
          <a:xfrm>
            <a:off x="5907024" y="2999232"/>
            <a:ext cx="1051560" cy="420624"/>
          </a:xfrm>
          <a:prstGeom prst="roundRect">
            <a:avLst>
              <a:gd name="adj" fmla="val 43478"/>
            </a:avLst>
          </a:prstGeom>
          <a:solidFill>
            <a:srgbClr val="F6E9EC"/>
          </a:solidFill>
          <a:ln/>
        </p:spPr>
      </p:sp>
      <p:sp>
        <p:nvSpPr>
          <p:cNvPr id="31" name="Text 29"/>
          <p:cNvSpPr txBox="1"/>
          <p:nvPr/>
        </p:nvSpPr>
        <p:spPr>
          <a:xfrm>
            <a:off x="5907024" y="2999232"/>
            <a:ext cx="1051560" cy="420624"/>
          </a:xfrm>
          <a:prstGeom prst="rect">
            <a:avLst/>
          </a:prstGeom>
          <a:noFill/>
          <a:ln/>
        </p:spPr>
        <p:txBody>
          <a:bodyPr wrap="square" lIns="0" tIns="0" rIns="0" bIns="0" rtlCol="0" anchor="ctr"/>
          <a:lstStyle/>
          <a:p>
            <a:pPr algn="ctr" indent="0" marL="0">
              <a:buNone/>
            </a:pPr>
            <a:r>
              <a:rPr lang="en-US" sz="850" b="1" dirty="0">
                <a:solidFill>
                  <a:srgbClr val="B8546A"/>
                </a:solidFill>
                <a:latin typeface="Calibri" pitchFamily="34" charset="0"/>
                <a:ea typeface="Calibri" pitchFamily="34" charset="-122"/>
                <a:cs typeface="Calibri" pitchFamily="34" charset="-120"/>
              </a:rPr>
              <a:t>Holiday Dinner / Brunch</a:t>
            </a:r>
            <a:endParaRPr lang="en-US" sz="850" dirty="0"/>
          </a:p>
        </p:txBody>
      </p:sp>
      <p:sp>
        <p:nvSpPr>
          <p:cNvPr id="32" name="Shape 30"/>
          <p:cNvSpPr/>
          <p:nvPr/>
        </p:nvSpPr>
        <p:spPr>
          <a:xfrm>
            <a:off x="7031736" y="2999232"/>
            <a:ext cx="914400" cy="420624"/>
          </a:xfrm>
          <a:prstGeom prst="roundRect">
            <a:avLst>
              <a:gd name="adj" fmla="val 43478"/>
            </a:avLst>
          </a:prstGeom>
          <a:solidFill>
            <a:srgbClr val="F6E9EC"/>
          </a:solidFill>
          <a:ln/>
        </p:spPr>
      </p:sp>
      <p:sp>
        <p:nvSpPr>
          <p:cNvPr id="33" name="Text 31"/>
          <p:cNvSpPr txBox="1"/>
          <p:nvPr/>
        </p:nvSpPr>
        <p:spPr>
          <a:xfrm>
            <a:off x="7031736" y="2999232"/>
            <a:ext cx="914400" cy="420624"/>
          </a:xfrm>
          <a:prstGeom prst="rect">
            <a:avLst/>
          </a:prstGeom>
          <a:noFill/>
          <a:ln/>
        </p:spPr>
        <p:txBody>
          <a:bodyPr wrap="square" lIns="0" tIns="0" rIns="0" bIns="0" rtlCol="0" anchor="ctr"/>
          <a:lstStyle/>
          <a:p>
            <a:pPr algn="ctr" indent="0" marL="0">
              <a:buNone/>
            </a:pPr>
            <a:r>
              <a:rPr lang="en-US" sz="850" b="1" dirty="0">
                <a:solidFill>
                  <a:srgbClr val="B8546A"/>
                </a:solidFill>
                <a:latin typeface="Calibri" pitchFamily="34" charset="0"/>
                <a:ea typeface="Calibri" pitchFamily="34" charset="-122"/>
                <a:cs typeface="Calibri" pitchFamily="34" charset="-120"/>
              </a:rPr>
              <a:t>Party / Date Night</a:t>
            </a:r>
            <a:endParaRPr lang="en-US" sz="850" dirty="0"/>
          </a:p>
        </p:txBody>
      </p:sp>
      <p:sp>
        <p:nvSpPr>
          <p:cNvPr id="34" name="Text 32"/>
          <p:cNvSpPr txBox="1"/>
          <p:nvPr/>
        </p:nvSpPr>
        <p:spPr>
          <a:xfrm>
            <a:off x="3246120" y="3520440"/>
            <a:ext cx="548640" cy="566928"/>
          </a:xfrm>
          <a:prstGeom prst="rect">
            <a:avLst/>
          </a:prstGeom>
          <a:noFill/>
          <a:ln/>
        </p:spPr>
        <p:txBody>
          <a:bodyPr wrap="square" lIns="0" tIns="0" rIns="0" bIns="0" rtlCol="0" anchor="ctr"/>
          <a:lstStyle/>
          <a:p>
            <a:pPr indent="0" marL="0">
              <a:buNone/>
            </a:pPr>
            <a:r>
              <a:rPr lang="en-US" sz="1000" b="1" dirty="0">
                <a:solidFill>
                  <a:srgbClr val="1C2230"/>
                </a:solidFill>
                <a:latin typeface="Calibri" pitchFamily="34" charset="0"/>
                <a:ea typeface="Calibri" pitchFamily="34" charset="-122"/>
                <a:cs typeface="Calibri" pitchFamily="34" charset="-120"/>
              </a:rPr>
              <a:t>Q1</a:t>
            </a:r>
            <a:endParaRPr lang="en-US" sz="1100" dirty="0"/>
          </a:p>
          <a:p>
            <a:pPr indent="0" marL="0">
              <a:buNone/>
            </a:pPr>
            <a:r>
              <a:rPr lang="en-US" sz="800" dirty="0">
                <a:solidFill>
                  <a:srgbClr val="6B6F76"/>
                </a:solidFill>
                <a:latin typeface="Calibri" pitchFamily="34" charset="0"/>
                <a:ea typeface="Calibri" pitchFamily="34" charset="-122"/>
                <a:cs typeface="Calibri" pitchFamily="34" charset="-120"/>
              </a:rPr>
              <a:t>Jan–Mar</a:t>
            </a:r>
            <a:endParaRPr lang="en-US" sz="1100" dirty="0"/>
          </a:p>
        </p:txBody>
      </p:sp>
      <p:sp>
        <p:nvSpPr>
          <p:cNvPr id="35" name="Shape 33"/>
          <p:cNvSpPr/>
          <p:nvPr/>
        </p:nvSpPr>
        <p:spPr>
          <a:xfrm>
            <a:off x="3840480" y="3593592"/>
            <a:ext cx="1097280" cy="420624"/>
          </a:xfrm>
          <a:prstGeom prst="roundRect">
            <a:avLst>
              <a:gd name="adj" fmla="val 43478"/>
            </a:avLst>
          </a:prstGeom>
          <a:solidFill>
            <a:srgbClr val="E9EEF3"/>
          </a:solidFill>
          <a:ln/>
        </p:spPr>
      </p:sp>
      <p:sp>
        <p:nvSpPr>
          <p:cNvPr id="36" name="Text 34"/>
          <p:cNvSpPr txBox="1"/>
          <p:nvPr/>
        </p:nvSpPr>
        <p:spPr>
          <a:xfrm>
            <a:off x="3840480" y="3593592"/>
            <a:ext cx="1097280" cy="420624"/>
          </a:xfrm>
          <a:prstGeom prst="rect">
            <a:avLst/>
          </a:prstGeom>
          <a:noFill/>
          <a:ln/>
        </p:spPr>
        <p:txBody>
          <a:bodyPr wrap="square" lIns="0" tIns="0" rIns="0" bIns="0" rtlCol="0" anchor="ctr"/>
          <a:lstStyle/>
          <a:p>
            <a:pPr algn="ctr" indent="0" marL="0">
              <a:buNone/>
            </a:pPr>
            <a:r>
              <a:rPr lang="en-US" sz="850" b="1" dirty="0">
                <a:solidFill>
                  <a:srgbClr val="4F6D8C"/>
                </a:solidFill>
                <a:latin typeface="Calibri" pitchFamily="34" charset="0"/>
                <a:ea typeface="Calibri" pitchFamily="34" charset="-122"/>
                <a:cs typeface="Calibri" pitchFamily="34" charset="-120"/>
              </a:rPr>
              <a:t>Valentine’s Day</a:t>
            </a:r>
            <a:endParaRPr lang="en-US" sz="850" dirty="0"/>
          </a:p>
        </p:txBody>
      </p:sp>
      <p:sp>
        <p:nvSpPr>
          <p:cNvPr id="37" name="Shape 35"/>
          <p:cNvSpPr/>
          <p:nvPr/>
        </p:nvSpPr>
        <p:spPr>
          <a:xfrm>
            <a:off x="5010912" y="3593592"/>
            <a:ext cx="1920240" cy="420624"/>
          </a:xfrm>
          <a:prstGeom prst="roundRect">
            <a:avLst>
              <a:gd name="adj" fmla="val 43478"/>
            </a:avLst>
          </a:prstGeom>
          <a:solidFill>
            <a:srgbClr val="E9EEF3"/>
          </a:solidFill>
          <a:ln/>
        </p:spPr>
      </p:sp>
      <p:sp>
        <p:nvSpPr>
          <p:cNvPr id="38" name="Text 36"/>
          <p:cNvSpPr txBox="1"/>
          <p:nvPr/>
        </p:nvSpPr>
        <p:spPr>
          <a:xfrm>
            <a:off x="5010912" y="3593592"/>
            <a:ext cx="1920240" cy="420624"/>
          </a:xfrm>
          <a:prstGeom prst="rect">
            <a:avLst/>
          </a:prstGeom>
          <a:noFill/>
          <a:ln/>
        </p:spPr>
        <p:txBody>
          <a:bodyPr wrap="square" lIns="0" tIns="0" rIns="0" bIns="0" rtlCol="0" anchor="ctr"/>
          <a:lstStyle/>
          <a:p>
            <a:pPr algn="ctr" indent="0" marL="0">
              <a:buNone/>
            </a:pPr>
            <a:r>
              <a:rPr lang="en-US" sz="850" b="1" dirty="0">
                <a:solidFill>
                  <a:srgbClr val="4F6D8C"/>
                </a:solidFill>
                <a:latin typeface="Calibri" pitchFamily="34" charset="0"/>
                <a:ea typeface="Calibri" pitchFamily="34" charset="-122"/>
                <a:cs typeface="Calibri" pitchFamily="34" charset="-120"/>
              </a:rPr>
              <a:t>Early-Spring &amp; Winter-Sun Travel</a:t>
            </a:r>
            <a:endParaRPr lang="en-US" sz="850" dirty="0"/>
          </a:p>
        </p:txBody>
      </p:sp>
      <p:sp>
        <p:nvSpPr>
          <p:cNvPr id="39" name="Shape 37"/>
          <p:cNvSpPr/>
          <p:nvPr/>
        </p:nvSpPr>
        <p:spPr>
          <a:xfrm>
            <a:off x="7004304" y="3593592"/>
            <a:ext cx="914400" cy="420624"/>
          </a:xfrm>
          <a:prstGeom prst="roundRect">
            <a:avLst>
              <a:gd name="adj" fmla="val 43478"/>
            </a:avLst>
          </a:prstGeom>
          <a:solidFill>
            <a:srgbClr val="E9EEF3"/>
          </a:solidFill>
          <a:ln/>
        </p:spPr>
      </p:sp>
      <p:sp>
        <p:nvSpPr>
          <p:cNvPr id="40" name="Text 38"/>
          <p:cNvSpPr txBox="1"/>
          <p:nvPr/>
        </p:nvSpPr>
        <p:spPr>
          <a:xfrm>
            <a:off x="7004304" y="3593592"/>
            <a:ext cx="914400" cy="420624"/>
          </a:xfrm>
          <a:prstGeom prst="rect">
            <a:avLst/>
          </a:prstGeom>
          <a:noFill/>
          <a:ln/>
        </p:spPr>
        <p:txBody>
          <a:bodyPr wrap="square" lIns="0" tIns="0" rIns="0" bIns="0" rtlCol="0" anchor="ctr"/>
          <a:lstStyle/>
          <a:p>
            <a:pPr algn="ctr" indent="0" marL="0">
              <a:buNone/>
            </a:pPr>
            <a:r>
              <a:rPr lang="en-US" sz="850" b="1" dirty="0">
                <a:solidFill>
                  <a:srgbClr val="4F6D8C"/>
                </a:solidFill>
                <a:latin typeface="Calibri" pitchFamily="34" charset="0"/>
                <a:ea typeface="Calibri" pitchFamily="34" charset="-122"/>
                <a:cs typeface="Calibri" pitchFamily="34" charset="-120"/>
              </a:rPr>
              <a:t>Date Night</a:t>
            </a:r>
            <a:endParaRPr lang="en-US" sz="850" dirty="0"/>
          </a:p>
        </p:txBody>
      </p:sp>
      <p:sp>
        <p:nvSpPr>
          <p:cNvPr id="41" name="Shape 39"/>
          <p:cNvSpPr/>
          <p:nvPr/>
        </p:nvSpPr>
        <p:spPr>
          <a:xfrm>
            <a:off x="3246120" y="4133088"/>
            <a:ext cx="4709160" cy="329184"/>
          </a:xfrm>
          <a:prstGeom prst="roundRect">
            <a:avLst>
              <a:gd name="adj" fmla="val 13889"/>
            </a:avLst>
          </a:prstGeom>
          <a:solidFill>
            <a:srgbClr val="FBF3E4"/>
          </a:solidFill>
          <a:ln w="9525">
            <a:solidFill>
              <a:srgbClr val="C98A1B"/>
            </a:solidFill>
            <a:prstDash val="solid"/>
          </a:ln>
        </p:spPr>
      </p:sp>
      <p:sp>
        <p:nvSpPr>
          <p:cNvPr id="42" name="Text 40"/>
          <p:cNvSpPr txBox="1"/>
          <p:nvPr/>
        </p:nvSpPr>
        <p:spPr>
          <a:xfrm>
            <a:off x="3355848" y="4133088"/>
            <a:ext cx="4572000" cy="329184"/>
          </a:xfrm>
          <a:prstGeom prst="rect">
            <a:avLst/>
          </a:prstGeom>
          <a:noFill/>
          <a:ln/>
        </p:spPr>
        <p:txBody>
          <a:bodyPr wrap="square" lIns="0" tIns="0" rIns="0" bIns="0" rtlCol="0" anchor="ctr"/>
          <a:lstStyle/>
          <a:p>
            <a:pPr indent="0" marL="0">
              <a:buNone/>
            </a:pPr>
            <a:r>
              <a:rPr lang="en-US" sz="950" b="1" dirty="0">
                <a:solidFill>
                  <a:srgbClr val="C98A1B"/>
                </a:solidFill>
                <a:latin typeface="Calibri" pitchFamily="34" charset="0"/>
                <a:ea typeface="Calibri" pitchFamily="34" charset="-122"/>
                <a:cs typeface="Calibri" pitchFamily="34" charset="-120"/>
              </a:rPr>
              <a:t>✕  NOT “winter clothing”  </a:t>
            </a:r>
            <a:pPr indent="0" marL="0">
              <a:buNone/>
            </a:pPr>
            <a:r>
              <a:rPr lang="en-US" sz="950" dirty="0">
                <a:solidFill>
                  <a:srgbClr val="1C2230"/>
                </a:solidFill>
                <a:latin typeface="Calibri" pitchFamily="34" charset="0"/>
                <a:ea typeface="Calibri" pitchFamily="34" charset="-122"/>
                <a:cs typeface="Calibri" pitchFamily="34" charset="-120"/>
              </a:rPr>
              <a:t>— no warm / thermal / cold-weather claims</a:t>
            </a:r>
            <a:endParaRPr lang="en-US" sz="950" dirty="0"/>
          </a:p>
        </p:txBody>
      </p:sp>
      <p:sp>
        <p:nvSpPr>
          <p:cNvPr id="43" name="Text 41"/>
          <p:cNvSpPr txBox="1"/>
          <p:nvPr/>
        </p:nvSpPr>
        <p:spPr>
          <a:xfrm>
            <a:off x="8183880" y="1664208"/>
            <a:ext cx="2743200"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PORTFOLIO ROLES</a:t>
            </a:r>
            <a:endParaRPr lang="en-US" sz="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183880" y="1920240"/>
          <a:ext cx="3596335" cy="914400"/>
        </p:xfrm>
        <a:graphic>
          <a:graphicData uri="http://schemas.openxmlformats.org/drawingml/2006/table">
            <a:tbl>
              <a:tblPr/>
              <a:tblGrid>
                <a:gridCol w="1216152"/>
                <a:gridCol w="566928"/>
                <a:gridCol w="566928"/>
                <a:gridCol w="1246327"/>
              </a:tblGrid>
              <a:tr h="25603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ASIN</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Price</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Role</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Primary intent</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r>
              <a:tr h="603504">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SP1 · B0GRGWVHWC</a:t>
                      </a:r>
                      <a:endParaRPr lang="en-US" sz="850" dirty="0">
                        <a:latin typeface="Calibri" charset="0"/>
                        <a:ea typeface="Calibri" charset="0"/>
                        <a:cs typeface="Calibri" charset="0"/>
                      </a:endParaRPr>
                    </a:p>
                    <a:p>
                      <a:pPr indent="0" marL="0">
                        <a:buNone/>
                      </a:pPr>
                      <a:r>
                        <a:rPr lang="en-US" sz="850" dirty="0">
                          <a:solidFill>
                            <a:srgbClr val="1C2230"/>
                          </a:solidFill>
                          <a:latin typeface="Calibri" pitchFamily="34" charset="0"/>
                          <a:ea typeface="Calibri" pitchFamily="34" charset="-122"/>
                          <a:cs typeface="Calibri" pitchFamily="34" charset="-120"/>
                        </a:rPr>
                        <a:t>Floral Halter Jumpsuit</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$51.99</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Travel</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Resort · cruise · holiday travel</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603504">
                <a:tc>
                  <a:txBody>
                    <a:bodyPr/>
                    <a:lstStyle/>
                    <a:p>
                      <a:pPr indent="0" marL="0">
                        <a:buNone/>
                      </a:pPr>
                      <a:r>
                        <a:rPr lang="en-US" sz="850" b="1" dirty="0">
                          <a:solidFill>
                            <a:srgbClr val="B8546A"/>
                          </a:solidFill>
                          <a:latin typeface="Calibri" pitchFamily="34" charset="0"/>
                          <a:ea typeface="Calibri" pitchFamily="34" charset="-122"/>
                          <a:cs typeface="Calibri" pitchFamily="34" charset="-120"/>
                        </a:rPr>
                        <a:t>SP2 · B0FDKS69GR</a:t>
                      </a:r>
                      <a:endParaRPr lang="en-US" sz="850" dirty="0">
                        <a:latin typeface="Calibri" charset="0"/>
                        <a:ea typeface="Calibri" charset="0"/>
                        <a:cs typeface="Calibri" charset="0"/>
                      </a:endParaRPr>
                    </a:p>
                    <a:p>
                      <a:pPr indent="0" marL="0">
                        <a:buNone/>
                      </a:pPr>
                      <a:r>
                        <a:rPr lang="en-US" sz="850" b="1" dirty="0">
                          <a:solidFill>
                            <a:srgbClr val="B8546A"/>
                          </a:solidFill>
                          <a:latin typeface="Calibri" pitchFamily="34" charset="0"/>
                          <a:ea typeface="Calibri" pitchFamily="34" charset="-122"/>
                          <a:cs typeface="Calibri" pitchFamily="34" charset="-120"/>
                        </a:rPr>
                        <a:t>Floral L/S Maxi Dress</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b="1" dirty="0">
                          <a:solidFill>
                            <a:srgbClr val="1C2230"/>
                          </a:solidFill>
                          <a:latin typeface="Calibri" pitchFamily="34" charset="0"/>
                          <a:ea typeface="Calibri" pitchFamily="34" charset="-122"/>
                          <a:cs typeface="Calibri" pitchFamily="34" charset="-120"/>
                        </a:rPr>
                        <a:t>$51.99</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b="1" dirty="0">
                          <a:solidFill>
                            <a:srgbClr val="B8546A"/>
                          </a:solidFill>
                          <a:latin typeface="Calibri" pitchFamily="34" charset="0"/>
                          <a:ea typeface="Calibri" pitchFamily="34" charset="-122"/>
                          <a:cs typeface="Calibri" pitchFamily="34" charset="-120"/>
                        </a:rPr>
                        <a:t>HERO</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Fall wedding guest · holiday brunch/dinner</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r>
              <a:tr h="713232">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SP3 · B0FDKRBQVZ</a:t>
                      </a:r>
                      <a:endParaRPr lang="en-US" sz="850" dirty="0">
                        <a:latin typeface="Calibri" charset="0"/>
                        <a:ea typeface="Calibri" charset="0"/>
                        <a:cs typeface="Calibri" charset="0"/>
                      </a:endParaRPr>
                    </a:p>
                    <a:p>
                      <a:pPr indent="0" marL="0">
                        <a:buNone/>
                      </a:pPr>
                      <a:r>
                        <a:rPr lang="en-US" sz="850" dirty="0">
                          <a:solidFill>
                            <a:srgbClr val="1C2230"/>
                          </a:solidFill>
                          <a:latin typeface="Calibri" pitchFamily="34" charset="0"/>
                          <a:ea typeface="Calibri" pitchFamily="34" charset="-122"/>
                          <a:cs typeface="Calibri" pitchFamily="34" charset="-120"/>
                        </a:rPr>
                        <a:t>Raw Tiered Flared Dress</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$25.99</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Entry price</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Black: party/date (Q4) · Pink: Valentine/vacation (Q1)</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bl>
          </a:graphicData>
        </a:graphic>
      </p:graphicFrame>
      <p:sp>
        <p:nvSpPr>
          <p:cNvPr id="45" name="Shape 42"/>
          <p:cNvSpPr/>
          <p:nvPr/>
        </p:nvSpPr>
        <p:spPr>
          <a:xfrm>
            <a:off x="411480" y="4617720"/>
            <a:ext cx="3637178" cy="1097280"/>
          </a:xfrm>
          <a:prstGeom prst="roundRect">
            <a:avLst>
              <a:gd name="adj" fmla="val 5000"/>
            </a:avLst>
          </a:prstGeom>
          <a:solidFill>
            <a:srgbClr val="E9EEF3"/>
          </a:solidFill>
          <a:ln/>
        </p:spPr>
      </p:sp>
      <p:sp>
        <p:nvSpPr>
          <p:cNvPr id="46" name="Shape 43"/>
          <p:cNvSpPr/>
          <p:nvPr/>
        </p:nvSpPr>
        <p:spPr>
          <a:xfrm>
            <a:off x="576072" y="4782312"/>
            <a:ext cx="274320" cy="274320"/>
          </a:xfrm>
          <a:prstGeom prst="ellipse">
            <a:avLst/>
          </a:prstGeom>
          <a:solidFill>
            <a:srgbClr val="4F6D8C"/>
          </a:solidFill>
          <a:ln/>
        </p:spPr>
      </p:sp>
      <p:sp>
        <p:nvSpPr>
          <p:cNvPr id="47" name="Text 44"/>
          <p:cNvSpPr txBox="1"/>
          <p:nvPr/>
        </p:nvSpPr>
        <p:spPr>
          <a:xfrm>
            <a:off x="941832" y="4764024"/>
            <a:ext cx="2997098" cy="310896"/>
          </a:xfrm>
          <a:prstGeom prst="rect">
            <a:avLst/>
          </a:prstGeom>
          <a:noFill/>
          <a:ln/>
        </p:spPr>
        <p:txBody>
          <a:bodyPr wrap="square" lIns="0" tIns="0" rIns="0" bIns="0" rtlCol="0" anchor="ctr"/>
          <a:lstStyle/>
          <a:p>
            <a:pPr indent="0" marL="0">
              <a:buNone/>
            </a:pPr>
            <a:r>
              <a:rPr lang="en-US" sz="1100" b="1" spc="100" kern="0" dirty="0">
                <a:solidFill>
                  <a:srgbClr val="4F6D8C"/>
                </a:solidFill>
                <a:latin typeface="Calibri" pitchFamily="34" charset="0"/>
                <a:ea typeface="Calibri" pitchFamily="34" charset="-122"/>
                <a:cs typeface="Calibri" pitchFamily="34" charset="-120"/>
              </a:rPr>
              <a:t>SP1 · TRAVEL</a:t>
            </a:r>
            <a:endParaRPr lang="en-US" sz="1100" dirty="0"/>
          </a:p>
        </p:txBody>
      </p:sp>
      <p:sp>
        <p:nvSpPr>
          <p:cNvPr id="48" name="Text 45"/>
          <p:cNvSpPr txBox="1"/>
          <p:nvPr/>
        </p:nvSpPr>
        <p:spPr>
          <a:xfrm>
            <a:off x="576072" y="5093208"/>
            <a:ext cx="3307994" cy="585216"/>
          </a:xfrm>
          <a:prstGeom prst="rect">
            <a:avLst/>
          </a:prstGeom>
          <a:noFill/>
          <a:ln/>
        </p:spPr>
        <p:txBody>
          <a:bodyPr wrap="square" lIns="0" tIns="0" rIns="0" bIns="0" rtlCol="0" anchor="t"/>
          <a:lstStyle/>
          <a:p>
            <a:pPr indent="0" marL="0">
              <a:buNone/>
            </a:pPr>
            <a:r>
              <a:rPr lang="en-US" sz="1100" i="1" dirty="0">
                <a:solidFill>
                  <a:srgbClr val="1C2230"/>
                </a:solidFill>
                <a:latin typeface="Cambria" pitchFamily="34" charset="0"/>
                <a:ea typeface="Cambria" pitchFamily="34" charset="-122"/>
                <a:cs typeface="Cambria" pitchFamily="34" charset="-120"/>
              </a:rPr>
              <a:t>“Pack it for the sun.”</a:t>
            </a:r>
            <a:endParaRPr lang="en-US" sz="1100" dirty="0"/>
          </a:p>
          <a:p>
            <a:pPr indent="0" marL="0">
              <a:buNone/>
            </a:pPr>
            <a:r>
              <a:rPr lang="en-US" sz="900" dirty="0">
                <a:solidFill>
                  <a:srgbClr val="6B6F76"/>
                </a:solidFill>
                <a:latin typeface="Calibri" pitchFamily="34" charset="0"/>
                <a:ea typeface="Calibri" pitchFamily="34" charset="-122"/>
                <a:cs typeface="Calibri" pitchFamily="34" charset="-120"/>
              </a:rPr>
              <a:t>Halter · wide-leg · cotton · Hand Wash Only</a:t>
            </a:r>
            <a:endParaRPr lang="en-US" sz="1100" dirty="0"/>
          </a:p>
          <a:p>
            <a:pPr indent="0" marL="0">
              <a:buNone/>
            </a:pPr>
            <a:r>
              <a:rPr lang="en-US" sz="900" b="1" dirty="0">
                <a:solidFill>
                  <a:srgbClr val="1C2230"/>
                </a:solidFill>
                <a:latin typeface="Calibri" pitchFamily="34" charset="0"/>
                <a:ea typeface="Calibri" pitchFamily="34" charset="-122"/>
                <a:cs typeface="Calibri" pitchFamily="34" charset="-120"/>
              </a:rPr>
              <a:t>Win: cruise / resort searches, Nov–Mar</a:t>
            </a:r>
            <a:endParaRPr lang="en-US" sz="1100" dirty="0"/>
          </a:p>
        </p:txBody>
      </p:sp>
      <p:sp>
        <p:nvSpPr>
          <p:cNvPr id="49" name="Shape 46"/>
          <p:cNvSpPr/>
          <p:nvPr/>
        </p:nvSpPr>
        <p:spPr>
          <a:xfrm>
            <a:off x="4277258" y="4617720"/>
            <a:ext cx="3637178" cy="1097280"/>
          </a:xfrm>
          <a:prstGeom prst="roundRect">
            <a:avLst>
              <a:gd name="adj" fmla="val 5000"/>
            </a:avLst>
          </a:prstGeom>
          <a:solidFill>
            <a:srgbClr val="F6E9EC"/>
          </a:solidFill>
          <a:ln w="19050">
            <a:solidFill>
              <a:srgbClr val="B8546A"/>
            </a:solidFill>
            <a:prstDash val="solid"/>
          </a:ln>
        </p:spPr>
      </p:sp>
      <p:sp>
        <p:nvSpPr>
          <p:cNvPr id="50" name="Shape 47"/>
          <p:cNvSpPr/>
          <p:nvPr/>
        </p:nvSpPr>
        <p:spPr>
          <a:xfrm>
            <a:off x="4441850" y="4782312"/>
            <a:ext cx="274320" cy="274320"/>
          </a:xfrm>
          <a:prstGeom prst="ellipse">
            <a:avLst/>
          </a:prstGeom>
          <a:solidFill>
            <a:srgbClr val="B8546A"/>
          </a:solidFill>
          <a:ln/>
        </p:spPr>
      </p:sp>
      <p:sp>
        <p:nvSpPr>
          <p:cNvPr id="51" name="Text 48"/>
          <p:cNvSpPr txBox="1"/>
          <p:nvPr/>
        </p:nvSpPr>
        <p:spPr>
          <a:xfrm>
            <a:off x="4807610" y="4764024"/>
            <a:ext cx="2997098" cy="310896"/>
          </a:xfrm>
          <a:prstGeom prst="rect">
            <a:avLst/>
          </a:prstGeom>
          <a:noFill/>
          <a:ln/>
        </p:spPr>
        <p:txBody>
          <a:bodyPr wrap="square" lIns="0" tIns="0" rIns="0" bIns="0" rtlCol="0" anchor="ctr"/>
          <a:lstStyle/>
          <a:p>
            <a:pPr indent="0" marL="0">
              <a:buNone/>
            </a:pPr>
            <a:r>
              <a:rPr lang="en-US" sz="1100" b="1" spc="100" kern="0" dirty="0">
                <a:solidFill>
                  <a:srgbClr val="B8546A"/>
                </a:solidFill>
                <a:latin typeface="Calibri" pitchFamily="34" charset="0"/>
                <a:ea typeface="Calibri" pitchFamily="34" charset="-122"/>
                <a:cs typeface="Calibri" pitchFamily="34" charset="-120"/>
              </a:rPr>
              <a:t>SP2 · HERO</a:t>
            </a:r>
            <a:endParaRPr lang="en-US" sz="1100" dirty="0"/>
          </a:p>
        </p:txBody>
      </p:sp>
      <p:sp>
        <p:nvSpPr>
          <p:cNvPr id="52" name="Text 49"/>
          <p:cNvSpPr txBox="1"/>
          <p:nvPr/>
        </p:nvSpPr>
        <p:spPr>
          <a:xfrm>
            <a:off x="4441850" y="5093208"/>
            <a:ext cx="3307994" cy="585216"/>
          </a:xfrm>
          <a:prstGeom prst="rect">
            <a:avLst/>
          </a:prstGeom>
          <a:noFill/>
          <a:ln/>
        </p:spPr>
        <p:txBody>
          <a:bodyPr wrap="square" lIns="0" tIns="0" rIns="0" bIns="0" rtlCol="0" anchor="t"/>
          <a:lstStyle/>
          <a:p>
            <a:pPr indent="0" marL="0">
              <a:buNone/>
            </a:pPr>
            <a:r>
              <a:rPr lang="en-US" sz="1100" i="1" dirty="0">
                <a:solidFill>
                  <a:srgbClr val="1C2230"/>
                </a:solidFill>
                <a:latin typeface="Cambria" pitchFamily="34" charset="0"/>
                <a:ea typeface="Cambria" pitchFamily="34" charset="-122"/>
                <a:cs typeface="Cambria" pitchFamily="34" charset="-120"/>
              </a:rPr>
              <a:t>“The long-sleeve floral guest look.”</a:t>
            </a:r>
            <a:endParaRPr lang="en-US" sz="1100" dirty="0"/>
          </a:p>
          <a:p>
            <a:pPr indent="0" marL="0">
              <a:buNone/>
            </a:pPr>
            <a:r>
              <a:rPr lang="en-US" sz="900" dirty="0">
                <a:solidFill>
                  <a:srgbClr val="6B6F76"/>
                </a:solidFill>
                <a:latin typeface="Calibri" pitchFamily="34" charset="0"/>
                <a:ea typeface="Calibri" pitchFamily="34" charset="-122"/>
                <a:cs typeface="Calibri" pitchFamily="34" charset="-120"/>
              </a:rPr>
              <a:t>Long puff sleeves · tie neck · tiered maxi</a:t>
            </a:r>
            <a:endParaRPr lang="en-US" sz="1100" dirty="0"/>
          </a:p>
          <a:p>
            <a:pPr indent="0" marL="0">
              <a:buNone/>
            </a:pPr>
            <a:r>
              <a:rPr lang="en-US" sz="900" b="1" dirty="0">
                <a:solidFill>
                  <a:srgbClr val="1C2230"/>
                </a:solidFill>
                <a:latin typeface="Calibri" pitchFamily="34" charset="0"/>
                <a:ea typeface="Calibri" pitchFamily="34" charset="-122"/>
                <a:cs typeface="Calibri" pitchFamily="34" charset="-120"/>
              </a:rPr>
              <a:t>Win: wedding guest + holiday dining · 45% initial PPC priority</a:t>
            </a:r>
            <a:endParaRPr lang="en-US" sz="1100" dirty="0"/>
          </a:p>
        </p:txBody>
      </p:sp>
      <p:sp>
        <p:nvSpPr>
          <p:cNvPr id="53" name="Shape 50"/>
          <p:cNvSpPr/>
          <p:nvPr/>
        </p:nvSpPr>
        <p:spPr>
          <a:xfrm>
            <a:off x="8143037" y="4617720"/>
            <a:ext cx="3637178" cy="1097280"/>
          </a:xfrm>
          <a:prstGeom prst="roundRect">
            <a:avLst>
              <a:gd name="adj" fmla="val 5000"/>
            </a:avLst>
          </a:prstGeom>
          <a:solidFill>
            <a:srgbClr val="F3F3F5"/>
          </a:solidFill>
          <a:ln/>
        </p:spPr>
      </p:sp>
      <p:sp>
        <p:nvSpPr>
          <p:cNvPr id="54" name="Shape 51"/>
          <p:cNvSpPr/>
          <p:nvPr/>
        </p:nvSpPr>
        <p:spPr>
          <a:xfrm>
            <a:off x="8307629" y="4782312"/>
            <a:ext cx="274320" cy="274320"/>
          </a:xfrm>
          <a:prstGeom prst="ellipse">
            <a:avLst/>
          </a:prstGeom>
          <a:solidFill>
            <a:srgbClr val="2B2B2B"/>
          </a:solidFill>
          <a:ln/>
        </p:spPr>
      </p:sp>
      <p:sp>
        <p:nvSpPr>
          <p:cNvPr id="55" name="Text 52"/>
          <p:cNvSpPr txBox="1"/>
          <p:nvPr/>
        </p:nvSpPr>
        <p:spPr>
          <a:xfrm>
            <a:off x="8673389" y="4764024"/>
            <a:ext cx="2997098" cy="310896"/>
          </a:xfrm>
          <a:prstGeom prst="rect">
            <a:avLst/>
          </a:prstGeom>
          <a:noFill/>
          <a:ln/>
        </p:spPr>
        <p:txBody>
          <a:bodyPr wrap="square" lIns="0" tIns="0" rIns="0" bIns="0" rtlCol="0" anchor="ctr"/>
          <a:lstStyle/>
          <a:p>
            <a:pPr indent="0" marL="0">
              <a:buNone/>
            </a:pPr>
            <a:r>
              <a:rPr lang="en-US" sz="1100" b="1" spc="100" kern="0" dirty="0">
                <a:solidFill>
                  <a:srgbClr val="2B2B2B"/>
                </a:solidFill>
                <a:latin typeface="Calibri" pitchFamily="34" charset="0"/>
                <a:ea typeface="Calibri" pitchFamily="34" charset="-122"/>
                <a:cs typeface="Calibri" pitchFamily="34" charset="-120"/>
              </a:rPr>
              <a:t>SP3 · ENTRY PRICE</a:t>
            </a:r>
            <a:endParaRPr lang="en-US" sz="1100" dirty="0"/>
          </a:p>
        </p:txBody>
      </p:sp>
      <p:sp>
        <p:nvSpPr>
          <p:cNvPr id="56" name="Text 53"/>
          <p:cNvSpPr txBox="1"/>
          <p:nvPr/>
        </p:nvSpPr>
        <p:spPr>
          <a:xfrm>
            <a:off x="8307629" y="5093208"/>
            <a:ext cx="3307994" cy="585216"/>
          </a:xfrm>
          <a:prstGeom prst="rect">
            <a:avLst/>
          </a:prstGeom>
          <a:noFill/>
          <a:ln/>
        </p:spPr>
        <p:txBody>
          <a:bodyPr wrap="square" lIns="0" tIns="0" rIns="0" bIns="0" rtlCol="0" anchor="t"/>
          <a:lstStyle/>
          <a:p>
            <a:pPr indent="0" marL="0">
              <a:buNone/>
            </a:pPr>
            <a:r>
              <a:rPr lang="en-US" sz="1100" i="1" dirty="0">
                <a:solidFill>
                  <a:srgbClr val="1C2230"/>
                </a:solidFill>
                <a:latin typeface="Cambria" pitchFamily="34" charset="0"/>
                <a:ea typeface="Cambria" pitchFamily="34" charset="-122"/>
                <a:cs typeface="Cambria" pitchFamily="34" charset="-120"/>
              </a:rPr>
              <a:t>“One dress, two seasons.”</a:t>
            </a:r>
            <a:endParaRPr lang="en-US" sz="1100" dirty="0"/>
          </a:p>
          <a:p>
            <a:pPr indent="0" marL="0">
              <a:buNone/>
            </a:pPr>
            <a:r>
              <a:rPr lang="en-US" sz="900" dirty="0">
                <a:solidFill>
                  <a:srgbClr val="6B6F76"/>
                </a:solidFill>
                <a:latin typeface="Calibri" pitchFamily="34" charset="0"/>
                <a:ea typeface="Calibri" pitchFamily="34" charset="-122"/>
                <a:cs typeface="Calibri" pitchFamily="34" charset="-120"/>
              </a:rPr>
              <a:t>Black → Q4 party / date night · Pink → Q1 Valentine</a:t>
            </a:r>
            <a:endParaRPr lang="en-US" sz="1100" dirty="0"/>
          </a:p>
          <a:p>
            <a:pPr indent="0" marL="0">
              <a:buNone/>
            </a:pPr>
            <a:r>
              <a:rPr lang="en-US" sz="900" b="1" dirty="0">
                <a:solidFill>
                  <a:srgbClr val="1C2230"/>
                </a:solidFill>
                <a:latin typeface="Calibri" pitchFamily="34" charset="0"/>
                <a:ea typeface="Calibri" pitchFamily="34" charset="-122"/>
                <a:cs typeface="Calibri" pitchFamily="34" charset="-120"/>
              </a:rPr>
              <a:t>Win: lowest price point, impulse occasion</a:t>
            </a:r>
            <a:endParaRPr lang="en-US" sz="1100" dirty="0"/>
          </a:p>
        </p:txBody>
      </p:sp>
      <p:sp>
        <p:nvSpPr>
          <p:cNvPr id="57" name="Shape 54"/>
          <p:cNvSpPr/>
          <p:nvPr/>
        </p:nvSpPr>
        <p:spPr>
          <a:xfrm>
            <a:off x="411480" y="5879592"/>
            <a:ext cx="11368735" cy="475488"/>
          </a:xfrm>
          <a:prstGeom prst="roundRect">
            <a:avLst>
              <a:gd name="adj" fmla="val 11538"/>
            </a:avLst>
          </a:prstGeom>
          <a:solidFill>
            <a:srgbClr val="1C2230"/>
          </a:solidFill>
          <a:ln/>
        </p:spPr>
      </p:sp>
      <p:sp>
        <p:nvSpPr>
          <p:cNvPr id="58" name="Text 55"/>
          <p:cNvSpPr txBox="1"/>
          <p:nvPr/>
        </p:nvSpPr>
        <p:spPr>
          <a:xfrm>
            <a:off x="640080" y="5879592"/>
            <a:ext cx="10911535" cy="47548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North Star:  +50% relative Unit Session % uplift (Baseline × 1.5) while selling ≥90% of inventory (99 of 110 units).</a:t>
            </a:r>
            <a:endParaRPr lang="en-US" sz="1250" dirty="0"/>
          </a:p>
        </p:txBody>
      </p:sp>
      <p:sp>
        <p:nvSpPr>
          <p:cNvPr id="59" name="Text 56"/>
          <p:cNvSpPr txBox="1"/>
          <p:nvPr/>
        </p:nvSpPr>
        <p:spPr>
          <a:xfrm>
            <a:off x="411480" y="6473952"/>
            <a:ext cx="11368735" cy="274320"/>
          </a:xfrm>
          <a:prstGeom prst="rect">
            <a:avLst/>
          </a:prstGeom>
          <a:noFill/>
          <a:ln/>
        </p:spPr>
        <p:txBody>
          <a:bodyPr wrap="square" lIns="0" tIns="0" rIns="0" bIns="0" rtlCol="0" anchor="t"/>
          <a:lstStyle/>
          <a:p>
            <a:pPr indent="0" marL="0">
              <a:buNone/>
            </a:pPr>
            <a:r>
              <a:rPr lang="en-US" sz="800" i="1" dirty="0">
                <a:solidFill>
                  <a:srgbClr val="6B6F76"/>
                </a:solidFill>
                <a:latin typeface="Calibri" pitchFamily="34" charset="0"/>
                <a:ea typeface="Calibri" pitchFamily="34" charset="-122"/>
                <a:cs typeface="Calibri" pitchFamily="34" charset="-120"/>
              </a:rPr>
              <a:t>Baseline = Unit Session % over the 30 days ending Sep 30, 2026 (Business Reports). All targets are management targets, not historical data. Occasion demand to be validated via Helium 10 / Search Query Performance.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572000" cy="228600"/>
          </a:xfrm>
          <a:prstGeom prst="rect">
            <a:avLst/>
          </a:prstGeom>
          <a:noFill/>
          <a:ln/>
        </p:spPr>
        <p:txBody>
          <a:bodyPr wrap="square" lIns="0" tIns="0" rIns="0" bIns="0" rtlCol="0" anchor="t"/>
          <a:lstStyle/>
          <a:p>
            <a:pPr indent="0" marL="0">
              <a:buNone/>
            </a:pPr>
            <a:r>
              <a:rPr lang="en-US" sz="900" spc="200" kern="0" dirty="0">
                <a:solidFill>
                  <a:srgbClr val="A3A6AC"/>
                </a:solidFill>
                <a:latin typeface="Calibri" pitchFamily="34" charset="0"/>
                <a:ea typeface="Calibri" pitchFamily="34" charset="-122"/>
                <a:cs typeface="Calibri" pitchFamily="34" charset="-120"/>
              </a:rPr>
              <a:t>WHY</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b="1" spc="200" kern="0" dirty="0">
                <a:solidFill>
                  <a:srgbClr val="B8546A"/>
                </a:solidFill>
                <a:latin typeface="Calibri" pitchFamily="34" charset="0"/>
                <a:ea typeface="Calibri" pitchFamily="34" charset="-122"/>
                <a:cs typeface="Calibri" pitchFamily="34" charset="-120"/>
              </a:rPr>
              <a:t>WHAT</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HOW</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CONTROL</a:t>
            </a:r>
            <a:endParaRPr lang="en-US" sz="900" dirty="0"/>
          </a:p>
        </p:txBody>
      </p:sp>
      <p:sp>
        <p:nvSpPr>
          <p:cNvPr id="3" name="Text 1"/>
          <p:cNvSpPr txBox="1"/>
          <p:nvPr/>
        </p:nvSpPr>
        <p:spPr>
          <a:xfrm>
            <a:off x="7208215" y="201168"/>
            <a:ext cx="4572000" cy="228600"/>
          </a:xfrm>
          <a:prstGeom prst="rect">
            <a:avLst/>
          </a:prstGeom>
          <a:noFill/>
          <a:ln/>
        </p:spPr>
        <p:txBody>
          <a:bodyPr wrap="square" lIns="0" tIns="0" rIns="0" bIns="0" rtlCol="0" anchor="t"/>
          <a:lstStyle/>
          <a:p>
            <a:pPr algn="r" indent="0" marL="0">
              <a:buNone/>
            </a:pPr>
            <a:r>
              <a:rPr lang="en-US" sz="900" spc="100" kern="0" dirty="0">
                <a:solidFill>
                  <a:srgbClr val="A3A6AC"/>
                </a:solidFill>
                <a:latin typeface="Calibri" pitchFamily="34" charset="0"/>
                <a:ea typeface="Calibri" pitchFamily="34" charset="-122"/>
                <a:cs typeface="Calibri" pitchFamily="34" charset="-120"/>
              </a:rPr>
              <a:t>SIXDO × AMAZON US  |  YÊU CẦU 02  |  2 / 4</a:t>
            </a:r>
            <a:endParaRPr lang="en-US" sz="900" dirty="0"/>
          </a:p>
        </p:txBody>
      </p:sp>
      <p:sp>
        <p:nvSpPr>
          <p:cNvPr id="4" name="Text 2"/>
          <p:cNvSpPr txBox="1"/>
          <p:nvPr/>
        </p:nvSpPr>
        <p:spPr>
          <a:xfrm>
            <a:off x="411480" y="457200"/>
            <a:ext cx="11368735" cy="777240"/>
          </a:xfrm>
          <a:prstGeom prst="rect">
            <a:avLst/>
          </a:prstGeom>
          <a:noFill/>
          <a:ln/>
        </p:spPr>
        <p:txBody>
          <a:bodyPr wrap="square" lIns="0" tIns="0" rIns="0" bIns="0" rtlCol="0" anchor="ctr"/>
          <a:lstStyle/>
          <a:p>
            <a:pPr indent="0" marL="0">
              <a:buNone/>
            </a:pPr>
            <a:r>
              <a:rPr lang="en-US" sz="2300" b="1" dirty="0">
                <a:solidFill>
                  <a:srgbClr val="1C2230"/>
                </a:solidFill>
                <a:latin typeface="Cambria" pitchFamily="34" charset="0"/>
                <a:ea typeface="Cambria" pitchFamily="34" charset="-122"/>
                <a:cs typeface="Cambria" pitchFamily="34" charset="-120"/>
              </a:rPr>
              <a:t>Win Conversion Before Buying Traffic: Rebuild Every PDP Around a High-Intent Occasion</a:t>
            </a:r>
            <a:endParaRPr lang="en-US" sz="2300" dirty="0"/>
          </a:p>
        </p:txBody>
      </p:sp>
      <p:sp>
        <p:nvSpPr>
          <p:cNvPr id="5" name="Text 3"/>
          <p:cNvSpPr txBox="1"/>
          <p:nvPr/>
        </p:nvSpPr>
        <p:spPr>
          <a:xfrm>
            <a:off x="411480" y="1243584"/>
            <a:ext cx="11368735" cy="274320"/>
          </a:xfrm>
          <a:prstGeom prst="rect">
            <a:avLst/>
          </a:prstGeom>
          <a:noFill/>
          <a:ln/>
        </p:spPr>
        <p:txBody>
          <a:bodyPr wrap="square" lIns="0" tIns="0" rIns="0" bIns="0" rtlCol="0" anchor="t"/>
          <a:lstStyle/>
          <a:p>
            <a:pPr indent="0" marL="0">
              <a:buNone/>
            </a:pPr>
            <a:r>
              <a:rPr lang="en-US" sz="1250" i="1" dirty="0">
                <a:solidFill>
                  <a:srgbClr val="6B6F76"/>
                </a:solidFill>
                <a:latin typeface="Calibri" pitchFamily="34" charset="0"/>
                <a:ea typeface="Calibri" pitchFamily="34" charset="-122"/>
                <a:cs typeface="Calibri" pitchFamily="34" charset="-120"/>
              </a:rPr>
              <a:t>Title = Product Identity · Bullets = Occasion · A+ = Conversion + Education — no keyword stuffing.</a:t>
            </a:r>
            <a:endParaRPr lang="en-US" sz="1250" dirty="0"/>
          </a:p>
        </p:txBody>
      </p:sp>
      <p:sp>
        <p:nvSpPr>
          <p:cNvPr id="6" name="Shape 4"/>
          <p:cNvSpPr/>
          <p:nvPr/>
        </p:nvSpPr>
        <p:spPr>
          <a:xfrm>
            <a:off x="411480" y="1664208"/>
            <a:ext cx="2865044" cy="502920"/>
          </a:xfrm>
          <a:prstGeom prst="homePlate">
            <a:avLst/>
          </a:prstGeom>
          <a:solidFill>
            <a:srgbClr val="E4E5E9"/>
          </a:solidFill>
          <a:ln/>
        </p:spPr>
      </p:sp>
      <p:sp>
        <p:nvSpPr>
          <p:cNvPr id="7" name="Text 5"/>
          <p:cNvSpPr txBox="1"/>
          <p:nvPr/>
        </p:nvSpPr>
        <p:spPr>
          <a:xfrm>
            <a:off x="548640" y="1664208"/>
            <a:ext cx="2407844" cy="502920"/>
          </a:xfrm>
          <a:prstGeom prst="rect">
            <a:avLst/>
          </a:prstGeom>
          <a:noFill/>
          <a:ln/>
        </p:spPr>
        <p:txBody>
          <a:bodyPr wrap="square" lIns="0" tIns="0" rIns="0" bIns="0" rtlCol="0" anchor="ctr"/>
          <a:lstStyle/>
          <a:p>
            <a:pPr indent="0" marL="0">
              <a:buNone/>
            </a:pPr>
            <a:r>
              <a:rPr lang="en-US" sz="1100" b="1" dirty="0">
                <a:solidFill>
                  <a:srgbClr val="1C2230"/>
                </a:solidFill>
                <a:latin typeface="Calibri" pitchFamily="34" charset="0"/>
                <a:ea typeface="Calibri" pitchFamily="34" charset="-122"/>
                <a:cs typeface="Calibri" pitchFamily="34" charset="-120"/>
              </a:rPr>
              <a:t>① SEARCH INTENT</a:t>
            </a:r>
            <a:endParaRPr lang="en-US" sz="1100" dirty="0"/>
          </a:p>
          <a:p>
            <a:pPr indent="0" marL="0">
              <a:buNone/>
            </a:pPr>
            <a:r>
              <a:rPr lang="en-US" sz="800" dirty="0">
                <a:solidFill>
                  <a:srgbClr val="1C2230"/>
                </a:solidFill>
                <a:latin typeface="Calibri" pitchFamily="34" charset="0"/>
                <a:ea typeface="Calibri" pitchFamily="34" charset="-122"/>
                <a:cs typeface="Calibri" pitchFamily="34" charset="-120"/>
              </a:rPr>
              <a:t>Impressions → CTR</a:t>
            </a:r>
            <a:endParaRPr lang="en-US" sz="1100" dirty="0"/>
          </a:p>
        </p:txBody>
      </p:sp>
      <p:sp>
        <p:nvSpPr>
          <p:cNvPr id="8" name="Shape 6"/>
          <p:cNvSpPr/>
          <p:nvPr/>
        </p:nvSpPr>
        <p:spPr>
          <a:xfrm>
            <a:off x="411480" y="2258568"/>
            <a:ext cx="2773604" cy="1298448"/>
          </a:xfrm>
          <a:prstGeom prst="roundRect">
            <a:avLst>
              <a:gd name="adj" fmla="val 3521"/>
            </a:avLst>
          </a:prstGeom>
          <a:solidFill>
            <a:srgbClr val="F6E9EC"/>
          </a:solidFill>
          <a:ln/>
        </p:spPr>
      </p:sp>
      <p:sp>
        <p:nvSpPr>
          <p:cNvPr id="9" name="Text 7"/>
          <p:cNvSpPr txBox="1"/>
          <p:nvPr/>
        </p:nvSpPr>
        <p:spPr>
          <a:xfrm>
            <a:off x="521208" y="2322576"/>
            <a:ext cx="2554148" cy="1188720"/>
          </a:xfrm>
          <a:prstGeom prst="rect">
            <a:avLst/>
          </a:prstGeom>
          <a:noFill/>
          <a:ln/>
        </p:spPr>
        <p:txBody>
          <a:bodyPr wrap="square" lIns="0" tIns="0" rIns="0" bIns="0" rtlCol="0" anchor="t"/>
          <a:lstStyle/>
          <a:p>
            <a:pPr indent="0" marL="0">
              <a:buNone/>
            </a:pPr>
            <a:r>
              <a:rPr lang="en-US" sz="900" b="1" dirty="0">
                <a:solidFill>
                  <a:srgbClr val="1C2230"/>
                </a:solidFill>
                <a:latin typeface="Calibri" pitchFamily="34" charset="0"/>
                <a:ea typeface="Calibri" pitchFamily="34" charset="-122"/>
                <a:cs typeface="Calibri" pitchFamily="34" charset="-120"/>
              </a:rPr>
              <a:t>Core: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floral maxi dress women</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Attribute: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long sleeve · halter · wide leg · tiered</a:t>
            </a:r>
            <a:endParaRPr lang="en-US" sz="900" dirty="0"/>
          </a:p>
          <a:p>
            <a:pPr indent="0" marL="0">
              <a:buNone/>
            </a:pPr>
            <a:r>
              <a:rPr lang="en-US" sz="900" b="1" dirty="0">
                <a:solidFill>
                  <a:srgbClr val="B8546A"/>
                </a:solidFill>
                <a:latin typeface="Calibri" pitchFamily="34" charset="0"/>
                <a:ea typeface="Calibri" pitchFamily="34" charset="-122"/>
                <a:cs typeface="Calibri" pitchFamily="34" charset="-120"/>
              </a:rPr>
              <a:t>Occasion long-tail: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fall wedding guest dress · cruise outfits women · valentines dress women</a:t>
            </a:r>
            <a:endParaRPr lang="en-US" sz="900" dirty="0"/>
          </a:p>
        </p:txBody>
      </p:sp>
      <p:sp>
        <p:nvSpPr>
          <p:cNvPr id="10" name="Shape 8"/>
          <p:cNvSpPr/>
          <p:nvPr/>
        </p:nvSpPr>
        <p:spPr>
          <a:xfrm>
            <a:off x="3276524" y="1664208"/>
            <a:ext cx="2865044" cy="502920"/>
          </a:xfrm>
          <a:prstGeom prst="chevron">
            <a:avLst/>
          </a:prstGeom>
          <a:solidFill>
            <a:srgbClr val="C9CBD2"/>
          </a:solidFill>
          <a:ln/>
        </p:spPr>
      </p:sp>
      <p:sp>
        <p:nvSpPr>
          <p:cNvPr id="11" name="Text 9"/>
          <p:cNvSpPr txBox="1"/>
          <p:nvPr/>
        </p:nvSpPr>
        <p:spPr>
          <a:xfrm>
            <a:off x="3596564" y="1664208"/>
            <a:ext cx="2407844" cy="502920"/>
          </a:xfrm>
          <a:prstGeom prst="rect">
            <a:avLst/>
          </a:prstGeom>
          <a:noFill/>
          <a:ln/>
        </p:spPr>
        <p:txBody>
          <a:bodyPr wrap="square" lIns="0" tIns="0" rIns="0" bIns="0" rtlCol="0" anchor="ctr"/>
          <a:lstStyle/>
          <a:p>
            <a:pPr indent="0" marL="0">
              <a:buNone/>
            </a:pPr>
            <a:r>
              <a:rPr lang="en-US" sz="1100" b="1" dirty="0">
                <a:solidFill>
                  <a:srgbClr val="1C2230"/>
                </a:solidFill>
                <a:latin typeface="Calibri" pitchFamily="34" charset="0"/>
                <a:ea typeface="Calibri" pitchFamily="34" charset="-122"/>
                <a:cs typeface="Calibri" pitchFamily="34" charset="-120"/>
              </a:rPr>
              <a:t>② LISTING</a:t>
            </a:r>
            <a:endParaRPr lang="en-US" sz="1100" dirty="0"/>
          </a:p>
          <a:p>
            <a:pPr indent="0" marL="0">
              <a:buNone/>
            </a:pPr>
            <a:r>
              <a:rPr lang="en-US" sz="800" dirty="0">
                <a:solidFill>
                  <a:srgbClr val="1C2230"/>
                </a:solidFill>
                <a:latin typeface="Calibri" pitchFamily="34" charset="0"/>
                <a:ea typeface="Calibri" pitchFamily="34" charset="-122"/>
                <a:cs typeface="Calibri" pitchFamily="34" charset="-120"/>
              </a:rPr>
              <a:t>CTR → Sessions</a:t>
            </a:r>
            <a:endParaRPr lang="en-US" sz="1100" dirty="0"/>
          </a:p>
        </p:txBody>
      </p:sp>
      <p:sp>
        <p:nvSpPr>
          <p:cNvPr id="12" name="Shape 10"/>
          <p:cNvSpPr/>
          <p:nvPr/>
        </p:nvSpPr>
        <p:spPr>
          <a:xfrm>
            <a:off x="3276524" y="2258568"/>
            <a:ext cx="2773604" cy="1298448"/>
          </a:xfrm>
          <a:prstGeom prst="roundRect">
            <a:avLst>
              <a:gd name="adj" fmla="val 3521"/>
            </a:avLst>
          </a:prstGeom>
          <a:solidFill>
            <a:srgbClr val="F3F3F5"/>
          </a:solidFill>
          <a:ln/>
        </p:spPr>
      </p:sp>
      <p:sp>
        <p:nvSpPr>
          <p:cNvPr id="13" name="Text 11"/>
          <p:cNvSpPr txBox="1"/>
          <p:nvPr/>
        </p:nvSpPr>
        <p:spPr>
          <a:xfrm>
            <a:off x="3386252" y="2322576"/>
            <a:ext cx="2554148" cy="1188720"/>
          </a:xfrm>
          <a:prstGeom prst="rect">
            <a:avLst/>
          </a:prstGeom>
          <a:noFill/>
          <a:ln/>
        </p:spPr>
        <p:txBody>
          <a:bodyPr wrap="square" lIns="0" tIns="0" rIns="0" bIns="0" rtlCol="0" anchor="t"/>
          <a:lstStyle/>
          <a:p>
            <a:pPr indent="0" marL="0">
              <a:buNone/>
            </a:pPr>
            <a:r>
              <a:rPr lang="en-US" sz="900" b="1" dirty="0">
                <a:solidFill>
                  <a:srgbClr val="1C2230"/>
                </a:solidFill>
                <a:latin typeface="Calibri" pitchFamily="34" charset="0"/>
                <a:ea typeface="Calibri" pitchFamily="34" charset="-122"/>
                <a:cs typeface="Calibri" pitchFamily="34" charset="-120"/>
              </a:rPr>
              <a:t>Title: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Brand + type + key attribute + color</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Bullets: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Silhouette → Fabric → Occasion → Styling → Fit/Care</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Product truth: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only verified attributes</a:t>
            </a:r>
            <a:endParaRPr lang="en-US" sz="900" dirty="0"/>
          </a:p>
        </p:txBody>
      </p:sp>
      <p:sp>
        <p:nvSpPr>
          <p:cNvPr id="14" name="Shape 12"/>
          <p:cNvSpPr/>
          <p:nvPr/>
        </p:nvSpPr>
        <p:spPr>
          <a:xfrm>
            <a:off x="6141568" y="1664208"/>
            <a:ext cx="2865044" cy="502920"/>
          </a:xfrm>
          <a:prstGeom prst="chevron">
            <a:avLst/>
          </a:prstGeom>
          <a:solidFill>
            <a:srgbClr val="8C909B"/>
          </a:solidFill>
          <a:ln/>
        </p:spPr>
      </p:sp>
      <p:sp>
        <p:nvSpPr>
          <p:cNvPr id="15" name="Text 13"/>
          <p:cNvSpPr txBox="1"/>
          <p:nvPr/>
        </p:nvSpPr>
        <p:spPr>
          <a:xfrm>
            <a:off x="6461608" y="1664208"/>
            <a:ext cx="2407844"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③ GALLERY / A+</a:t>
            </a:r>
            <a:endParaRPr lang="en-US" sz="1100" dirty="0"/>
          </a:p>
          <a:p>
            <a:pPr indent="0" marL="0">
              <a:buNone/>
            </a:pPr>
            <a:r>
              <a:rPr lang="en-US" sz="800" dirty="0">
                <a:solidFill>
                  <a:srgbClr val="FFFFFF"/>
                </a:solidFill>
                <a:latin typeface="Calibri" pitchFamily="34" charset="0"/>
                <a:ea typeface="Calibri" pitchFamily="34" charset="-122"/>
                <a:cs typeface="Calibri" pitchFamily="34" charset="-120"/>
              </a:rPr>
              <a:t>Sessions → Consider</a:t>
            </a:r>
            <a:endParaRPr lang="en-US" sz="1100" dirty="0"/>
          </a:p>
        </p:txBody>
      </p:sp>
      <p:sp>
        <p:nvSpPr>
          <p:cNvPr id="16" name="Shape 14"/>
          <p:cNvSpPr/>
          <p:nvPr/>
        </p:nvSpPr>
        <p:spPr>
          <a:xfrm>
            <a:off x="6141568" y="2258568"/>
            <a:ext cx="2773604" cy="1298448"/>
          </a:xfrm>
          <a:prstGeom prst="roundRect">
            <a:avLst>
              <a:gd name="adj" fmla="val 3521"/>
            </a:avLst>
          </a:prstGeom>
          <a:solidFill>
            <a:srgbClr val="F3F3F5"/>
          </a:solidFill>
          <a:ln/>
        </p:spPr>
      </p:sp>
      <p:sp>
        <p:nvSpPr>
          <p:cNvPr id="17" name="Text 15"/>
          <p:cNvSpPr txBox="1"/>
          <p:nvPr/>
        </p:nvSpPr>
        <p:spPr>
          <a:xfrm>
            <a:off x="6251296" y="2322576"/>
            <a:ext cx="2554148" cy="1188720"/>
          </a:xfrm>
          <a:prstGeom prst="rect">
            <a:avLst/>
          </a:prstGeom>
          <a:noFill/>
          <a:ln/>
        </p:spPr>
        <p:txBody>
          <a:bodyPr wrap="square" lIns="0" tIns="0" rIns="0" bIns="0" rtlCol="0" anchor="t"/>
          <a:lstStyle/>
          <a:p>
            <a:pPr indent="0" marL="0">
              <a:buNone/>
            </a:pPr>
            <a:r>
              <a:rPr lang="en-US" sz="900" b="1" dirty="0">
                <a:solidFill>
                  <a:srgbClr val="1C2230"/>
                </a:solidFill>
                <a:latin typeface="Calibri" pitchFamily="34" charset="0"/>
                <a:ea typeface="Calibri" pitchFamily="34" charset="-122"/>
                <a:cs typeface="Calibri" pitchFamily="34" charset="-120"/>
              </a:rPr>
              <a:t>Gallery (6):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Main · Occasion · Fit &amp; Size · Fabric · Layering · Occasion matrix</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A+ (5):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Brand story · Seasonless Occasion Dressing · Features · Size/Fit · 3-ASIN comparison</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Layering: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alone · + cardigan · + blazer (styling pieces not included)</a:t>
            </a:r>
            <a:endParaRPr lang="en-US" sz="900" dirty="0"/>
          </a:p>
        </p:txBody>
      </p:sp>
      <p:sp>
        <p:nvSpPr>
          <p:cNvPr id="18" name="Shape 16"/>
          <p:cNvSpPr/>
          <p:nvPr/>
        </p:nvSpPr>
        <p:spPr>
          <a:xfrm>
            <a:off x="9006611" y="1664208"/>
            <a:ext cx="2865044" cy="502920"/>
          </a:xfrm>
          <a:prstGeom prst="chevron">
            <a:avLst/>
          </a:prstGeom>
          <a:solidFill>
            <a:srgbClr val="1C2230"/>
          </a:solidFill>
          <a:ln/>
        </p:spPr>
      </p:sp>
      <p:sp>
        <p:nvSpPr>
          <p:cNvPr id="19" name="Text 17"/>
          <p:cNvSpPr txBox="1"/>
          <p:nvPr/>
        </p:nvSpPr>
        <p:spPr>
          <a:xfrm>
            <a:off x="9326651" y="1664208"/>
            <a:ext cx="2407844"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④ PURCHASE</a:t>
            </a:r>
            <a:endParaRPr lang="en-US" sz="1100" dirty="0"/>
          </a:p>
          <a:p>
            <a:pPr indent="0" marL="0">
              <a:buNone/>
            </a:pPr>
            <a:r>
              <a:rPr lang="en-US" sz="800" dirty="0">
                <a:solidFill>
                  <a:srgbClr val="FFFFFF"/>
                </a:solidFill>
                <a:latin typeface="Calibri" pitchFamily="34" charset="0"/>
                <a:ea typeface="Calibri" pitchFamily="34" charset="-122"/>
                <a:cs typeface="Calibri" pitchFamily="34" charset="-120"/>
              </a:rPr>
              <a:t>Unit Session %</a:t>
            </a:r>
            <a:endParaRPr lang="en-US" sz="1100" dirty="0"/>
          </a:p>
        </p:txBody>
      </p:sp>
      <p:sp>
        <p:nvSpPr>
          <p:cNvPr id="20" name="Shape 18"/>
          <p:cNvSpPr/>
          <p:nvPr/>
        </p:nvSpPr>
        <p:spPr>
          <a:xfrm>
            <a:off x="9006611" y="2258568"/>
            <a:ext cx="2773604" cy="1298448"/>
          </a:xfrm>
          <a:prstGeom prst="roundRect">
            <a:avLst>
              <a:gd name="adj" fmla="val 3521"/>
            </a:avLst>
          </a:prstGeom>
          <a:solidFill>
            <a:srgbClr val="F3F3F5"/>
          </a:solidFill>
          <a:ln/>
        </p:spPr>
      </p:sp>
      <p:sp>
        <p:nvSpPr>
          <p:cNvPr id="21" name="Text 19"/>
          <p:cNvSpPr txBox="1"/>
          <p:nvPr/>
        </p:nvSpPr>
        <p:spPr>
          <a:xfrm>
            <a:off x="9116339" y="2322576"/>
            <a:ext cx="2554148" cy="1188720"/>
          </a:xfrm>
          <a:prstGeom prst="rect">
            <a:avLst/>
          </a:prstGeom>
          <a:noFill/>
          <a:ln/>
        </p:spPr>
        <p:txBody>
          <a:bodyPr wrap="square" lIns="0" tIns="0" rIns="0" bIns="0" rtlCol="0" anchor="t"/>
          <a:lstStyle/>
          <a:p>
            <a:pPr indent="0" marL="0">
              <a:buNone/>
            </a:pPr>
            <a:r>
              <a:rPr lang="en-US" sz="900" b="1" dirty="0">
                <a:solidFill>
                  <a:srgbClr val="1C2230"/>
                </a:solidFill>
                <a:latin typeface="Calibri" pitchFamily="34" charset="0"/>
                <a:ea typeface="Calibri" pitchFamily="34" charset="-122"/>
                <a:cs typeface="Calibri" pitchFamily="34" charset="-120"/>
              </a:rPr>
              <a:t>Fit confidence: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US size chart S–XL / S–XXL</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Availability: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FBA / Prime stock by child SKU</a:t>
            </a:r>
            <a:endParaRPr lang="en-US" sz="900" dirty="0"/>
          </a:p>
          <a:p>
            <a:pPr indent="0" marL="0">
              <a:buNone/>
            </a:pPr>
            <a:r>
              <a:rPr lang="en-US" sz="900" b="1" dirty="0">
                <a:solidFill>
                  <a:srgbClr val="1C2230"/>
                </a:solidFill>
                <a:latin typeface="Calibri" pitchFamily="34" charset="0"/>
                <a:ea typeface="Calibri" pitchFamily="34" charset="-122"/>
                <a:cs typeface="Calibri" pitchFamily="34" charset="-120"/>
              </a:rPr>
              <a:t>Offer: </a:t>
            </a:r>
            <a:pPr indent="0" marL="0">
              <a:spcAft>
                <a:spcPts val="300"/>
              </a:spcAft>
              <a:buNone/>
            </a:pPr>
            <a:r>
              <a:rPr lang="en-US" sz="900" dirty="0">
                <a:solidFill>
                  <a:srgbClr val="1C2230"/>
                </a:solidFill>
                <a:latin typeface="Calibri" pitchFamily="34" charset="0"/>
                <a:ea typeface="Calibri" pitchFamily="34" charset="-122"/>
                <a:cs typeface="Calibri" pitchFamily="34" charset="-120"/>
              </a:rPr>
              <a:t>targeted 5% coupon (Slide 3)</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3840480"/>
          <a:ext cx="7635240" cy="914400"/>
        </p:xfrm>
        <a:graphic>
          <a:graphicData uri="http://schemas.openxmlformats.org/drawingml/2006/table">
            <a:tbl>
              <a:tblPr/>
              <a:tblGrid>
                <a:gridCol w="566928"/>
                <a:gridCol w="2148840"/>
                <a:gridCol w="2240280"/>
                <a:gridCol w="2679192"/>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ASIN</a:t>
                      </a:r>
                      <a:endParaRPr lang="en-US" sz="90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Search intent (priority keywords)</a:t>
                      </a:r>
                      <a:endParaRPr lang="en-US" sz="90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New title (identity)</a:t>
                      </a:r>
                      <a:endParaRPr lang="en-US" sz="90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Bullet 3 — occasion message</a:t>
                      </a:r>
                      <a:endParaRPr lang="en-US" sz="90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r>
              <a:tr h="475488">
                <a:tc>
                  <a:txBody>
                    <a:bodyPr/>
                    <a:lstStyle/>
                    <a:p>
                      <a:pPr indent="0" marL="0">
                        <a:buNone/>
                      </a:pPr>
                      <a:r>
                        <a:rPr lang="en-US" sz="850" b="1" dirty="0">
                          <a:solidFill>
                            <a:srgbClr val="4F6D8C"/>
                          </a:solidFill>
                          <a:latin typeface="Calibri" pitchFamily="34" charset="0"/>
                          <a:ea typeface="Calibri" pitchFamily="34" charset="-122"/>
                          <a:cs typeface="Calibri" pitchFamily="34" charset="-120"/>
                        </a:rPr>
                        <a:t>SP1</a:t>
                      </a:r>
                      <a:endParaRPr lang="en-US" sz="850" dirty="0">
                        <a:latin typeface="Calibri" charset="0"/>
                        <a:ea typeface="Calibri" charset="0"/>
                        <a:cs typeface="Calibri" charset="0"/>
                      </a:endParaRPr>
                    </a:p>
                    <a:p>
                      <a:pPr indent="0" marL="0">
                        <a:buNone/>
                      </a:pPr>
                      <a:r>
                        <a:rPr lang="en-US" sz="850" b="1" dirty="0">
                          <a:solidFill>
                            <a:srgbClr val="4F6D8C"/>
                          </a:solidFill>
                          <a:latin typeface="Calibri" pitchFamily="34" charset="0"/>
                          <a:ea typeface="Calibri" pitchFamily="34" charset="-122"/>
                          <a:cs typeface="Calibri" pitchFamily="34" charset="-120"/>
                        </a:rPr>
                        <a:t>Travel</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resort jumpsuit women · cruise outfits women · vacation jumpsuit women</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SIXDO Women's Floral Halter Wide-Leg Jumpsuit, Cotton, Blue/White</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“Made for winter-sun escapes: cruise decks, resort dinners, holiday travel.” Care: Hand Wash Only</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475488">
                <a:tc>
                  <a:txBody>
                    <a:bodyPr/>
                    <a:lstStyle/>
                    <a:p>
                      <a:pPr indent="0" marL="0">
                        <a:buNone/>
                      </a:pPr>
                      <a:r>
                        <a:rPr lang="en-US" sz="850" b="1" dirty="0">
                          <a:solidFill>
                            <a:srgbClr val="B8546A"/>
                          </a:solidFill>
                          <a:latin typeface="Calibri" pitchFamily="34" charset="0"/>
                          <a:ea typeface="Calibri" pitchFamily="34" charset="-122"/>
                          <a:cs typeface="Calibri" pitchFamily="34" charset="-120"/>
                        </a:rPr>
                        <a:t>SP2</a:t>
                      </a:r>
                      <a:endParaRPr lang="en-US" sz="850" dirty="0">
                        <a:latin typeface="Calibri" charset="0"/>
                        <a:ea typeface="Calibri" charset="0"/>
                        <a:cs typeface="Calibri" charset="0"/>
                      </a:endParaRPr>
                    </a:p>
                    <a:p>
                      <a:pPr indent="0" marL="0">
                        <a:buNone/>
                      </a:pPr>
                      <a:r>
                        <a:rPr lang="en-US" sz="850" b="1" dirty="0">
                          <a:solidFill>
                            <a:srgbClr val="B8546A"/>
                          </a:solidFill>
                          <a:latin typeface="Calibri" pitchFamily="34" charset="0"/>
                          <a:ea typeface="Calibri" pitchFamily="34" charset="-122"/>
                          <a:cs typeface="Calibri" pitchFamily="34" charset="-120"/>
                        </a:rPr>
                        <a:t>HERO</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fall wedding guest dress · long sleeve floral maxi dress · holiday brunch dress</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SIXDO Women's Floral Long-Sleeve Tiered Maxi Dress, Blue or Yellow</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“Long puff sleeves and a tiered maxi skirt for fall weddings, holiday brunch and indoor dinners.”</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r>
              <a:tr h="475488">
                <a:tc>
                  <a:txBody>
                    <a:bodyPr/>
                    <a:lstStyle/>
                    <a:p>
                      <a:pPr indent="0" marL="0">
                        <a:buNone/>
                      </a:pPr>
                      <a:r>
                        <a:rPr lang="en-US" sz="850" b="1" dirty="0">
                          <a:solidFill>
                            <a:srgbClr val="2B2B2B"/>
                          </a:solidFill>
                          <a:latin typeface="Calibri" pitchFamily="34" charset="0"/>
                          <a:ea typeface="Calibri" pitchFamily="34" charset="-122"/>
                          <a:cs typeface="Calibri" pitchFamily="34" charset="-120"/>
                        </a:rPr>
                        <a:t>SP3</a:t>
                      </a:r>
                      <a:endParaRPr lang="en-US" sz="850" dirty="0">
                        <a:latin typeface="Calibri" charset="0"/>
                        <a:ea typeface="Calibri" charset="0"/>
                        <a:cs typeface="Calibri" charset="0"/>
                      </a:endParaRPr>
                    </a:p>
                    <a:p>
                      <a:pPr indent="0" marL="0">
                        <a:buNone/>
                      </a:pPr>
                      <a:r>
                        <a:rPr lang="en-US" sz="850" b="1" dirty="0">
                          <a:solidFill>
                            <a:srgbClr val="2B2B2B"/>
                          </a:solidFill>
                          <a:latin typeface="Calibri" pitchFamily="34" charset="0"/>
                          <a:ea typeface="Calibri" pitchFamily="34" charset="-122"/>
                          <a:cs typeface="Calibri" pitchFamily="34" charset="-120"/>
                        </a:rPr>
                        <a:t>Entry</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black date night dress · holiday party dress black · pink date night dress · valentines dress women</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SIXDO Women's Spaghetti-Strap Tiered Flared Dress, Pink or Black</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indent="0" marL="0">
                        <a:buNone/>
                      </a:pPr>
                      <a:r>
                        <a:rPr lang="en-US" sz="850" dirty="0">
                          <a:solidFill>
                            <a:srgbClr val="1C2230"/>
                          </a:solidFill>
                          <a:latin typeface="Calibri" pitchFamily="34" charset="0"/>
                          <a:ea typeface="Calibri" pitchFamily="34" charset="-122"/>
                          <a:cs typeface="Calibri" pitchFamily="34" charset="-120"/>
                        </a:rPr>
                        <a:t>“Black for holiday parties and date nights; Pink for Valentine’s Day and vacation.”</a:t>
                      </a:r>
                      <a:endParaRPr lang="en-US" sz="850" dirty="0">
                        <a:latin typeface="Calibri" charset="0"/>
                        <a:ea typeface="Calibri" charset="0"/>
                        <a:cs typeface="Calibri" charset="0"/>
                      </a:endParaRPr>
                    </a:p>
                  </a:txBody>
                  <a:tcPr marL="45720" marR="45720" marT="45720" marB="45720"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bl>
          </a:graphicData>
        </a:graphic>
      </p:graphicFrame>
      <p:sp>
        <p:nvSpPr>
          <p:cNvPr id="23" name="Shape 20"/>
          <p:cNvSpPr/>
          <p:nvPr/>
        </p:nvSpPr>
        <p:spPr>
          <a:xfrm>
            <a:off x="8275320" y="3840480"/>
            <a:ext cx="3504895" cy="1143000"/>
          </a:xfrm>
          <a:prstGeom prst="roundRect">
            <a:avLst>
              <a:gd name="adj" fmla="val 4000"/>
            </a:avLst>
          </a:prstGeom>
          <a:solidFill>
            <a:srgbClr val="FBF3E4"/>
          </a:solidFill>
          <a:ln w="12700">
            <a:solidFill>
              <a:srgbClr val="C98A1B"/>
            </a:solidFill>
            <a:prstDash val="solid"/>
          </a:ln>
        </p:spPr>
      </p:sp>
      <p:sp>
        <p:nvSpPr>
          <p:cNvPr id="24" name="Text 21"/>
          <p:cNvSpPr txBox="1"/>
          <p:nvPr/>
        </p:nvSpPr>
        <p:spPr>
          <a:xfrm>
            <a:off x="8403336" y="3904488"/>
            <a:ext cx="3276295" cy="1051560"/>
          </a:xfrm>
          <a:prstGeom prst="rect">
            <a:avLst/>
          </a:prstGeom>
          <a:noFill/>
          <a:ln/>
        </p:spPr>
        <p:txBody>
          <a:bodyPr wrap="square" lIns="0" tIns="0" rIns="0" bIns="0" rtlCol="0" anchor="t"/>
          <a:lstStyle/>
          <a:p>
            <a:pPr indent="0" marL="0">
              <a:spcAft>
                <a:spcPts val="200"/>
              </a:spcAft>
              <a:buNone/>
            </a:pPr>
            <a:r>
              <a:rPr lang="en-US" sz="1050" b="1" spc="100" kern="0" dirty="0">
                <a:solidFill>
                  <a:srgbClr val="C98A1B"/>
                </a:solidFill>
                <a:latin typeface="Calibri" pitchFamily="34" charset="0"/>
                <a:ea typeface="Calibri" pitchFamily="34" charset="-122"/>
                <a:cs typeface="Calibri" pitchFamily="34" charset="-120"/>
              </a:rPr>
              <a:t>DO NOT CLAIM</a:t>
            </a:r>
            <a:endParaRPr lang="en-US" sz="900" dirty="0"/>
          </a:p>
          <a:p>
            <a:pPr indent="0" marL="0">
              <a:spcAft>
                <a:spcPts val="200"/>
              </a:spcAft>
              <a:buNone/>
            </a:pPr>
            <a:r>
              <a:rPr lang="en-US" sz="900" dirty="0">
                <a:solidFill>
                  <a:srgbClr val="1C2230"/>
                </a:solidFill>
                <a:latin typeface="Calibri" pitchFamily="34" charset="0"/>
                <a:ea typeface="Calibri" pitchFamily="34" charset="-122"/>
                <a:cs typeface="Calibri" pitchFamily="34" charset="-120"/>
              </a:rPr>
              <a:t>✕  “Warm”, “winter”, “thermal”, “cold-weather” (all ASINs)</a:t>
            </a:r>
            <a:endParaRPr lang="en-US" sz="900" dirty="0"/>
          </a:p>
          <a:p>
            <a:pPr indent="0" marL="0">
              <a:spcAft>
                <a:spcPts val="200"/>
              </a:spcAft>
              <a:buNone/>
            </a:pPr>
            <a:r>
              <a:rPr lang="en-US" sz="900" dirty="0">
                <a:solidFill>
                  <a:srgbClr val="1C2230"/>
                </a:solidFill>
                <a:latin typeface="Calibri" pitchFamily="34" charset="0"/>
                <a:ea typeface="Calibri" pitchFamily="34" charset="-122"/>
                <a:cs typeface="Calibri" pitchFamily="34" charset="-120"/>
              </a:rPr>
              <a:t>✕  “Lined” on SP2 — lining not confirmed</a:t>
            </a:r>
            <a:endParaRPr lang="en-US" sz="900" dirty="0"/>
          </a:p>
          <a:p>
            <a:pPr indent="0" marL="0">
              <a:spcAft>
                <a:spcPts val="200"/>
              </a:spcAft>
              <a:buNone/>
            </a:pPr>
            <a:r>
              <a:rPr lang="en-US" sz="900" dirty="0">
                <a:solidFill>
                  <a:srgbClr val="1C2230"/>
                </a:solidFill>
                <a:latin typeface="Calibri" pitchFamily="34" charset="0"/>
                <a:ea typeface="Calibri" pitchFamily="34" charset="-122"/>
                <a:cs typeface="Calibri" pitchFamily="34" charset="-120"/>
              </a:rPr>
              <a:t>✕  Unverified fabric properties (stretch, wrinkle-free…)</a:t>
            </a:r>
            <a:endParaRPr lang="en-US" sz="900" dirty="0"/>
          </a:p>
          <a:p>
            <a:pPr indent="0" marL="0">
              <a:spcAft>
                <a:spcPts val="200"/>
              </a:spcAft>
              <a:buNone/>
            </a:pPr>
            <a:r>
              <a:rPr lang="en-US" sz="900" b="1" dirty="0">
                <a:solidFill>
                  <a:srgbClr val="3F7D5A"/>
                </a:solidFill>
                <a:latin typeface="Calibri" pitchFamily="34" charset="0"/>
                <a:ea typeface="Calibri" pitchFamily="34" charset="-122"/>
                <a:cs typeface="Calibri" pitchFamily="34" charset="-120"/>
              </a:rPr>
              <a:t>✓  SP1 keeps “Hand Wash Only”</a:t>
            </a:r>
            <a:endParaRPr lang="en-US" sz="900" dirty="0"/>
          </a:p>
        </p:txBody>
      </p:sp>
      <p:sp>
        <p:nvSpPr>
          <p:cNvPr id="25" name="Shape 22"/>
          <p:cNvSpPr/>
          <p:nvPr/>
        </p:nvSpPr>
        <p:spPr>
          <a:xfrm>
            <a:off x="8275320" y="5074920"/>
            <a:ext cx="546049" cy="384048"/>
          </a:xfrm>
          <a:prstGeom prst="roundRect">
            <a:avLst>
              <a:gd name="adj" fmla="val 9524"/>
            </a:avLst>
          </a:prstGeom>
          <a:solidFill>
            <a:srgbClr val="1C2230"/>
          </a:solidFill>
          <a:ln w="6350">
            <a:solidFill>
              <a:srgbClr val="D9DADF"/>
            </a:solidFill>
            <a:prstDash val="solid"/>
          </a:ln>
        </p:spPr>
      </p:sp>
      <p:sp>
        <p:nvSpPr>
          <p:cNvPr id="26" name="Text 23"/>
          <p:cNvSpPr txBox="1"/>
          <p:nvPr/>
        </p:nvSpPr>
        <p:spPr>
          <a:xfrm>
            <a:off x="8275320" y="5074920"/>
            <a:ext cx="546049" cy="3840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Main</a:t>
            </a:r>
            <a:endParaRPr lang="en-US" sz="700" dirty="0"/>
          </a:p>
        </p:txBody>
      </p:sp>
      <p:sp>
        <p:nvSpPr>
          <p:cNvPr id="27" name="Shape 24"/>
          <p:cNvSpPr/>
          <p:nvPr/>
        </p:nvSpPr>
        <p:spPr>
          <a:xfrm>
            <a:off x="8867089" y="5074920"/>
            <a:ext cx="546049" cy="384048"/>
          </a:xfrm>
          <a:prstGeom prst="roundRect">
            <a:avLst>
              <a:gd name="adj" fmla="val 9524"/>
            </a:avLst>
          </a:prstGeom>
          <a:solidFill>
            <a:srgbClr val="F3F3F5"/>
          </a:solidFill>
          <a:ln w="6350">
            <a:solidFill>
              <a:srgbClr val="D9DADF"/>
            </a:solidFill>
            <a:prstDash val="solid"/>
          </a:ln>
        </p:spPr>
      </p:sp>
      <p:sp>
        <p:nvSpPr>
          <p:cNvPr id="28" name="Text 25"/>
          <p:cNvSpPr txBox="1"/>
          <p:nvPr/>
        </p:nvSpPr>
        <p:spPr>
          <a:xfrm>
            <a:off x="8867089" y="5074920"/>
            <a:ext cx="546049" cy="384048"/>
          </a:xfrm>
          <a:prstGeom prst="rect">
            <a:avLst/>
          </a:prstGeom>
          <a:noFill/>
          <a:ln/>
        </p:spPr>
        <p:txBody>
          <a:bodyPr wrap="square" lIns="0" tIns="0" rIns="0" bIns="0" rtlCol="0" anchor="ctr"/>
          <a:lstStyle/>
          <a:p>
            <a:pPr algn="ctr" indent="0" marL="0">
              <a:buNone/>
            </a:pPr>
            <a:r>
              <a:rPr lang="en-US" sz="700" b="1" dirty="0">
                <a:solidFill>
                  <a:srgbClr val="1C2230"/>
                </a:solidFill>
                <a:latin typeface="Calibri" pitchFamily="34" charset="0"/>
                <a:ea typeface="Calibri" pitchFamily="34" charset="-122"/>
                <a:cs typeface="Calibri" pitchFamily="34" charset="-120"/>
              </a:rPr>
              <a:t>2</a:t>
            </a:r>
            <a:endParaRPr lang="en-US" sz="700" dirty="0"/>
          </a:p>
          <a:p>
            <a:pPr algn="ctr" indent="0" marL="0">
              <a:buNone/>
            </a:pPr>
            <a:r>
              <a:rPr lang="en-US" sz="700" b="1" dirty="0">
                <a:solidFill>
                  <a:srgbClr val="1C2230"/>
                </a:solidFill>
                <a:latin typeface="Calibri" pitchFamily="34" charset="0"/>
                <a:ea typeface="Calibri" pitchFamily="34" charset="-122"/>
                <a:cs typeface="Calibri" pitchFamily="34" charset="-120"/>
              </a:rPr>
              <a:t>Occasion</a:t>
            </a:r>
            <a:endParaRPr lang="en-US" sz="700" dirty="0"/>
          </a:p>
        </p:txBody>
      </p:sp>
      <p:sp>
        <p:nvSpPr>
          <p:cNvPr id="29" name="Shape 26"/>
          <p:cNvSpPr/>
          <p:nvPr/>
        </p:nvSpPr>
        <p:spPr>
          <a:xfrm>
            <a:off x="9458858" y="5074920"/>
            <a:ext cx="546049" cy="384048"/>
          </a:xfrm>
          <a:prstGeom prst="roundRect">
            <a:avLst>
              <a:gd name="adj" fmla="val 9524"/>
            </a:avLst>
          </a:prstGeom>
          <a:solidFill>
            <a:srgbClr val="F3F3F5"/>
          </a:solidFill>
          <a:ln w="6350">
            <a:solidFill>
              <a:srgbClr val="D9DADF"/>
            </a:solidFill>
            <a:prstDash val="solid"/>
          </a:ln>
        </p:spPr>
      </p:sp>
      <p:sp>
        <p:nvSpPr>
          <p:cNvPr id="30" name="Text 27"/>
          <p:cNvSpPr txBox="1"/>
          <p:nvPr/>
        </p:nvSpPr>
        <p:spPr>
          <a:xfrm>
            <a:off x="9458858" y="5074920"/>
            <a:ext cx="546049" cy="384048"/>
          </a:xfrm>
          <a:prstGeom prst="rect">
            <a:avLst/>
          </a:prstGeom>
          <a:noFill/>
          <a:ln/>
        </p:spPr>
        <p:txBody>
          <a:bodyPr wrap="square" lIns="0" tIns="0" rIns="0" bIns="0" rtlCol="0" anchor="ctr"/>
          <a:lstStyle/>
          <a:p>
            <a:pPr algn="ctr" indent="0" marL="0">
              <a:buNone/>
            </a:pPr>
            <a:r>
              <a:rPr lang="en-US" sz="700" b="1" dirty="0">
                <a:solidFill>
                  <a:srgbClr val="1C2230"/>
                </a:solidFill>
                <a:latin typeface="Calibri" pitchFamily="34" charset="0"/>
                <a:ea typeface="Calibri" pitchFamily="34" charset="-122"/>
                <a:cs typeface="Calibri" pitchFamily="34" charset="-120"/>
              </a:rPr>
              <a:t>3</a:t>
            </a:r>
            <a:endParaRPr lang="en-US" sz="700" dirty="0"/>
          </a:p>
          <a:p>
            <a:pPr algn="ctr" indent="0" marL="0">
              <a:buNone/>
            </a:pPr>
            <a:r>
              <a:rPr lang="en-US" sz="700" b="1" dirty="0">
                <a:solidFill>
                  <a:srgbClr val="1C2230"/>
                </a:solidFill>
                <a:latin typeface="Calibri" pitchFamily="34" charset="0"/>
                <a:ea typeface="Calibri" pitchFamily="34" charset="-122"/>
                <a:cs typeface="Calibri" pitchFamily="34" charset="-120"/>
              </a:rPr>
              <a:t>Fit &amp; Size</a:t>
            </a:r>
            <a:endParaRPr lang="en-US" sz="700" dirty="0"/>
          </a:p>
        </p:txBody>
      </p:sp>
      <p:sp>
        <p:nvSpPr>
          <p:cNvPr id="31" name="Shape 28"/>
          <p:cNvSpPr/>
          <p:nvPr/>
        </p:nvSpPr>
        <p:spPr>
          <a:xfrm>
            <a:off x="10050628" y="5074920"/>
            <a:ext cx="546049" cy="384048"/>
          </a:xfrm>
          <a:prstGeom prst="roundRect">
            <a:avLst>
              <a:gd name="adj" fmla="val 9524"/>
            </a:avLst>
          </a:prstGeom>
          <a:solidFill>
            <a:srgbClr val="F3F3F5"/>
          </a:solidFill>
          <a:ln w="6350">
            <a:solidFill>
              <a:srgbClr val="D9DADF"/>
            </a:solidFill>
            <a:prstDash val="solid"/>
          </a:ln>
        </p:spPr>
      </p:sp>
      <p:sp>
        <p:nvSpPr>
          <p:cNvPr id="32" name="Text 29"/>
          <p:cNvSpPr txBox="1"/>
          <p:nvPr/>
        </p:nvSpPr>
        <p:spPr>
          <a:xfrm>
            <a:off x="10050628" y="5074920"/>
            <a:ext cx="546049" cy="384048"/>
          </a:xfrm>
          <a:prstGeom prst="rect">
            <a:avLst/>
          </a:prstGeom>
          <a:noFill/>
          <a:ln/>
        </p:spPr>
        <p:txBody>
          <a:bodyPr wrap="square" lIns="0" tIns="0" rIns="0" bIns="0" rtlCol="0" anchor="ctr"/>
          <a:lstStyle/>
          <a:p>
            <a:pPr algn="ctr" indent="0" marL="0">
              <a:buNone/>
            </a:pPr>
            <a:r>
              <a:rPr lang="en-US" sz="700" b="1" dirty="0">
                <a:solidFill>
                  <a:srgbClr val="1C2230"/>
                </a:solidFill>
                <a:latin typeface="Calibri" pitchFamily="34" charset="0"/>
                <a:ea typeface="Calibri" pitchFamily="34" charset="-122"/>
                <a:cs typeface="Calibri" pitchFamily="34" charset="-120"/>
              </a:rPr>
              <a:t>4</a:t>
            </a:r>
            <a:endParaRPr lang="en-US" sz="700" dirty="0"/>
          </a:p>
          <a:p>
            <a:pPr algn="ctr" indent="0" marL="0">
              <a:buNone/>
            </a:pPr>
            <a:r>
              <a:rPr lang="en-US" sz="700" b="1" dirty="0">
                <a:solidFill>
                  <a:srgbClr val="1C2230"/>
                </a:solidFill>
                <a:latin typeface="Calibri" pitchFamily="34" charset="0"/>
                <a:ea typeface="Calibri" pitchFamily="34" charset="-122"/>
                <a:cs typeface="Calibri" pitchFamily="34" charset="-120"/>
              </a:rPr>
              <a:t>Fabric</a:t>
            </a:r>
            <a:endParaRPr lang="en-US" sz="700" dirty="0"/>
          </a:p>
        </p:txBody>
      </p:sp>
      <p:sp>
        <p:nvSpPr>
          <p:cNvPr id="33" name="Shape 30"/>
          <p:cNvSpPr/>
          <p:nvPr/>
        </p:nvSpPr>
        <p:spPr>
          <a:xfrm>
            <a:off x="10642397" y="5074920"/>
            <a:ext cx="546049" cy="384048"/>
          </a:xfrm>
          <a:prstGeom prst="roundRect">
            <a:avLst>
              <a:gd name="adj" fmla="val 9524"/>
            </a:avLst>
          </a:prstGeom>
          <a:solidFill>
            <a:srgbClr val="F3F3F5"/>
          </a:solidFill>
          <a:ln w="6350">
            <a:solidFill>
              <a:srgbClr val="D9DADF"/>
            </a:solidFill>
            <a:prstDash val="solid"/>
          </a:ln>
        </p:spPr>
      </p:sp>
      <p:sp>
        <p:nvSpPr>
          <p:cNvPr id="34" name="Text 31"/>
          <p:cNvSpPr txBox="1"/>
          <p:nvPr/>
        </p:nvSpPr>
        <p:spPr>
          <a:xfrm>
            <a:off x="10642397" y="5074920"/>
            <a:ext cx="546049" cy="384048"/>
          </a:xfrm>
          <a:prstGeom prst="rect">
            <a:avLst/>
          </a:prstGeom>
          <a:noFill/>
          <a:ln/>
        </p:spPr>
        <p:txBody>
          <a:bodyPr wrap="square" lIns="0" tIns="0" rIns="0" bIns="0" rtlCol="0" anchor="ctr"/>
          <a:lstStyle/>
          <a:p>
            <a:pPr algn="ctr" indent="0" marL="0">
              <a:buNone/>
            </a:pPr>
            <a:r>
              <a:rPr lang="en-US" sz="700" b="1" dirty="0">
                <a:solidFill>
                  <a:srgbClr val="1C2230"/>
                </a:solidFill>
                <a:latin typeface="Calibri" pitchFamily="34" charset="0"/>
                <a:ea typeface="Calibri" pitchFamily="34" charset="-122"/>
                <a:cs typeface="Calibri" pitchFamily="34" charset="-120"/>
              </a:rPr>
              <a:t>5</a:t>
            </a:r>
            <a:endParaRPr lang="en-US" sz="700" dirty="0"/>
          </a:p>
          <a:p>
            <a:pPr algn="ctr" indent="0" marL="0">
              <a:buNone/>
            </a:pPr>
            <a:r>
              <a:rPr lang="en-US" sz="700" b="1" dirty="0">
                <a:solidFill>
                  <a:srgbClr val="1C2230"/>
                </a:solidFill>
                <a:latin typeface="Calibri" pitchFamily="34" charset="0"/>
                <a:ea typeface="Calibri" pitchFamily="34" charset="-122"/>
                <a:cs typeface="Calibri" pitchFamily="34" charset="-120"/>
              </a:rPr>
              <a:t>Layering</a:t>
            </a:r>
            <a:endParaRPr lang="en-US" sz="700" dirty="0"/>
          </a:p>
        </p:txBody>
      </p:sp>
      <p:sp>
        <p:nvSpPr>
          <p:cNvPr id="35" name="Shape 32"/>
          <p:cNvSpPr/>
          <p:nvPr/>
        </p:nvSpPr>
        <p:spPr>
          <a:xfrm>
            <a:off x="11234166" y="5074920"/>
            <a:ext cx="546049" cy="384048"/>
          </a:xfrm>
          <a:prstGeom prst="roundRect">
            <a:avLst>
              <a:gd name="adj" fmla="val 9524"/>
            </a:avLst>
          </a:prstGeom>
          <a:solidFill>
            <a:srgbClr val="F3F3F5"/>
          </a:solidFill>
          <a:ln w="6350">
            <a:solidFill>
              <a:srgbClr val="D9DADF"/>
            </a:solidFill>
            <a:prstDash val="solid"/>
          </a:ln>
        </p:spPr>
      </p:sp>
      <p:sp>
        <p:nvSpPr>
          <p:cNvPr id="36" name="Text 33"/>
          <p:cNvSpPr txBox="1"/>
          <p:nvPr/>
        </p:nvSpPr>
        <p:spPr>
          <a:xfrm>
            <a:off x="11234166" y="5074920"/>
            <a:ext cx="546049" cy="384048"/>
          </a:xfrm>
          <a:prstGeom prst="rect">
            <a:avLst/>
          </a:prstGeom>
          <a:noFill/>
          <a:ln/>
        </p:spPr>
        <p:txBody>
          <a:bodyPr wrap="square" lIns="0" tIns="0" rIns="0" bIns="0" rtlCol="0" anchor="ctr"/>
          <a:lstStyle/>
          <a:p>
            <a:pPr algn="ctr" indent="0" marL="0">
              <a:buNone/>
            </a:pPr>
            <a:r>
              <a:rPr lang="en-US" sz="700" b="1" dirty="0">
                <a:solidFill>
                  <a:srgbClr val="1C2230"/>
                </a:solidFill>
                <a:latin typeface="Calibri" pitchFamily="34" charset="0"/>
                <a:ea typeface="Calibri" pitchFamily="34" charset="-122"/>
                <a:cs typeface="Calibri" pitchFamily="34" charset="-120"/>
              </a:rPr>
              <a:t>6</a:t>
            </a:r>
            <a:endParaRPr lang="en-US" sz="700" dirty="0"/>
          </a:p>
          <a:p>
            <a:pPr algn="ctr" indent="0" marL="0">
              <a:buNone/>
            </a:pPr>
            <a:r>
              <a:rPr lang="en-US" sz="700" b="1" dirty="0">
                <a:solidFill>
                  <a:srgbClr val="1C2230"/>
                </a:solidFill>
                <a:latin typeface="Calibri" pitchFamily="34" charset="0"/>
                <a:ea typeface="Calibri" pitchFamily="34" charset="-122"/>
                <a:cs typeface="Calibri" pitchFamily="34" charset="-120"/>
              </a:rPr>
              <a:t>Matrix</a:t>
            </a:r>
            <a:endParaRPr lang="en-US" sz="700" dirty="0"/>
          </a:p>
        </p:txBody>
      </p:sp>
      <p:sp>
        <p:nvSpPr>
          <p:cNvPr id="37" name="Text 34"/>
          <p:cNvSpPr txBox="1"/>
          <p:nvPr/>
        </p:nvSpPr>
        <p:spPr>
          <a:xfrm>
            <a:off x="8275320" y="5486400"/>
            <a:ext cx="3504895" cy="201168"/>
          </a:xfrm>
          <a:prstGeom prst="rect">
            <a:avLst/>
          </a:prstGeom>
          <a:noFill/>
          <a:ln/>
        </p:spPr>
        <p:txBody>
          <a:bodyPr wrap="square" lIns="0" tIns="0" rIns="0" bIns="0" rtlCol="0" anchor="t"/>
          <a:lstStyle/>
          <a:p>
            <a:pPr indent="0" marL="0">
              <a:buNone/>
            </a:pPr>
            <a:r>
              <a:rPr lang="en-US" sz="800" i="1" dirty="0">
                <a:solidFill>
                  <a:srgbClr val="6B6F76"/>
                </a:solidFill>
                <a:latin typeface="Calibri" pitchFamily="34" charset="0"/>
                <a:ea typeface="Calibri" pitchFamily="34" charset="-122"/>
                <a:cs typeface="Calibri" pitchFamily="34" charset="-120"/>
              </a:rPr>
              <a:t>Reuse existing assets — resize, layout, typography. No new photoshoot.</a:t>
            </a:r>
            <a:endParaRPr lang="en-US" sz="800" dirty="0"/>
          </a:p>
        </p:txBody>
      </p:sp>
      <p:sp>
        <p:nvSpPr>
          <p:cNvPr id="38" name="Shape 35"/>
          <p:cNvSpPr/>
          <p:nvPr/>
        </p:nvSpPr>
        <p:spPr>
          <a:xfrm>
            <a:off x="411480" y="5806440"/>
            <a:ext cx="11368735" cy="566928"/>
          </a:xfrm>
          <a:prstGeom prst="roundRect">
            <a:avLst>
              <a:gd name="adj" fmla="val 9677"/>
            </a:avLst>
          </a:prstGeom>
          <a:solidFill>
            <a:srgbClr val="1C2230"/>
          </a:solidFill>
          <a:ln/>
        </p:spPr>
      </p:sp>
      <p:sp>
        <p:nvSpPr>
          <p:cNvPr id="39" name="Text 36"/>
          <p:cNvSpPr txBox="1"/>
          <p:nvPr/>
        </p:nvSpPr>
        <p:spPr>
          <a:xfrm>
            <a:off x="640080" y="5806440"/>
            <a:ext cx="10911535"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Better Intent Match</a:t>
            </a:r>
            <a:pPr algn="ctr" indent="0" marL="0">
              <a:buNone/>
            </a:pPr>
            <a:r>
              <a:rPr lang="en-US" sz="1000" dirty="0">
                <a:solidFill>
                  <a:srgbClr val="C9CBD2"/>
                </a:solidFill>
                <a:latin typeface="Cambria" pitchFamily="34" charset="0"/>
                <a:ea typeface="Cambria" pitchFamily="34" charset="-122"/>
                <a:cs typeface="Cambria" pitchFamily="34" charset="-120"/>
              </a:rPr>
              <a:t> (keyword ↔ listing)</a:t>
            </a:r>
            <a:pPr algn="ctr" indent="0" marL="0">
              <a:buNone/>
            </a:pPr>
            <a:r>
              <a:rPr lang="en-US" sz="1250" b="1" dirty="0">
                <a:solidFill>
                  <a:srgbClr val="E8B7C0"/>
                </a:solidFill>
                <a:latin typeface="Cambria" pitchFamily="34" charset="0"/>
                <a:ea typeface="Cambria" pitchFamily="34" charset="-122"/>
                <a:cs typeface="Cambria" pitchFamily="34" charset="-120"/>
              </a:rPr>
              <a:t>   +   </a:t>
            </a:r>
            <a:pPr algn="ctr" indent="0" marL="0">
              <a:buNone/>
            </a:pPr>
            <a:r>
              <a:rPr lang="en-US" sz="1250" b="1" dirty="0">
                <a:solidFill>
                  <a:srgbClr val="FFFFFF"/>
                </a:solidFill>
                <a:latin typeface="Cambria" pitchFamily="34" charset="0"/>
                <a:ea typeface="Cambria" pitchFamily="34" charset="-122"/>
                <a:cs typeface="Cambria" pitchFamily="34" charset="-120"/>
              </a:rPr>
              <a:t>Lower Purchase Uncertainty</a:t>
            </a:r>
            <a:pPr algn="ctr" indent="0" marL="0">
              <a:buNone/>
            </a:pPr>
            <a:r>
              <a:rPr lang="en-US" sz="1000" dirty="0">
                <a:solidFill>
                  <a:srgbClr val="C9CBD2"/>
                </a:solidFill>
                <a:latin typeface="Cambria" pitchFamily="34" charset="0"/>
                <a:ea typeface="Cambria" pitchFamily="34" charset="-122"/>
                <a:cs typeface="Cambria" pitchFamily="34" charset="-120"/>
              </a:rPr>
              <a:t> (fit · fabric · truth)</a:t>
            </a:r>
            <a:pPr algn="ctr" indent="0" marL="0">
              <a:buNone/>
            </a:pPr>
            <a:r>
              <a:rPr lang="en-US" sz="1250" b="1" dirty="0">
                <a:solidFill>
                  <a:srgbClr val="E8B7C0"/>
                </a:solidFill>
                <a:latin typeface="Cambria" pitchFamily="34" charset="0"/>
                <a:ea typeface="Cambria" pitchFamily="34" charset="-122"/>
                <a:cs typeface="Cambria" pitchFamily="34" charset="-120"/>
              </a:rPr>
              <a:t>   =   </a:t>
            </a:r>
            <a:pPr algn="ctr" indent="0" marL="0">
              <a:buNone/>
            </a:pPr>
            <a:r>
              <a:rPr lang="en-US" sz="1250" b="1" dirty="0">
                <a:solidFill>
                  <a:srgbClr val="E8B7C0"/>
                </a:solidFill>
                <a:latin typeface="Cambria" pitchFamily="34" charset="0"/>
                <a:ea typeface="Cambria" pitchFamily="34" charset="-122"/>
                <a:cs typeface="Cambria" pitchFamily="34" charset="-120"/>
              </a:rPr>
              <a:t>Higher Unit Session %</a:t>
            </a:r>
            <a:endParaRPr lang="en-US" sz="1250" dirty="0"/>
          </a:p>
        </p:txBody>
      </p:sp>
      <p:sp>
        <p:nvSpPr>
          <p:cNvPr id="40" name="Text 37"/>
          <p:cNvSpPr txBox="1"/>
          <p:nvPr/>
        </p:nvSpPr>
        <p:spPr>
          <a:xfrm>
            <a:off x="411480" y="6473952"/>
            <a:ext cx="11368735" cy="274320"/>
          </a:xfrm>
          <a:prstGeom prst="rect">
            <a:avLst/>
          </a:prstGeom>
          <a:noFill/>
          <a:ln/>
        </p:spPr>
        <p:txBody>
          <a:bodyPr wrap="square" lIns="0" tIns="0" rIns="0" bIns="0" rtlCol="0" anchor="t"/>
          <a:lstStyle/>
          <a:p>
            <a:pPr indent="0" marL="0">
              <a:buNone/>
            </a:pPr>
            <a:r>
              <a:rPr lang="en-US" sz="800" i="1" dirty="0">
                <a:solidFill>
                  <a:srgbClr val="6B6F76"/>
                </a:solidFill>
                <a:latin typeface="Calibri" pitchFamily="34" charset="0"/>
                <a:ea typeface="Calibri" pitchFamily="34" charset="-122"/>
                <a:cs typeface="Calibri" pitchFamily="34" charset="-120"/>
              </a:rPr>
              <a:t>Keyword priority and search volume to be validated via Helium 10 (Cerebro/Magnet) and Brand Analytics → Search Query Performance before launch; no volumes shown because none are provided.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572000" cy="228600"/>
          </a:xfrm>
          <a:prstGeom prst="rect">
            <a:avLst/>
          </a:prstGeom>
          <a:noFill/>
          <a:ln/>
        </p:spPr>
        <p:txBody>
          <a:bodyPr wrap="square" lIns="0" tIns="0" rIns="0" bIns="0" rtlCol="0" anchor="t"/>
          <a:lstStyle/>
          <a:p>
            <a:pPr indent="0" marL="0">
              <a:buNone/>
            </a:pPr>
            <a:r>
              <a:rPr lang="en-US" sz="900" spc="200" kern="0" dirty="0">
                <a:solidFill>
                  <a:srgbClr val="A3A6AC"/>
                </a:solidFill>
                <a:latin typeface="Calibri" pitchFamily="34" charset="0"/>
                <a:ea typeface="Calibri" pitchFamily="34" charset="-122"/>
                <a:cs typeface="Calibri" pitchFamily="34" charset="-120"/>
              </a:rPr>
              <a:t>WHY</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WHAT</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b="1" spc="200" kern="0" dirty="0">
                <a:solidFill>
                  <a:srgbClr val="B8546A"/>
                </a:solidFill>
                <a:latin typeface="Calibri" pitchFamily="34" charset="0"/>
                <a:ea typeface="Calibri" pitchFamily="34" charset="-122"/>
                <a:cs typeface="Calibri" pitchFamily="34" charset="-120"/>
              </a:rPr>
              <a:t>HOW</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CONTROL</a:t>
            </a:r>
            <a:endParaRPr lang="en-US" sz="900" dirty="0"/>
          </a:p>
        </p:txBody>
      </p:sp>
      <p:sp>
        <p:nvSpPr>
          <p:cNvPr id="3" name="Text 1"/>
          <p:cNvSpPr txBox="1"/>
          <p:nvPr/>
        </p:nvSpPr>
        <p:spPr>
          <a:xfrm>
            <a:off x="7208215" y="201168"/>
            <a:ext cx="4572000" cy="228600"/>
          </a:xfrm>
          <a:prstGeom prst="rect">
            <a:avLst/>
          </a:prstGeom>
          <a:noFill/>
          <a:ln/>
        </p:spPr>
        <p:txBody>
          <a:bodyPr wrap="square" lIns="0" tIns="0" rIns="0" bIns="0" rtlCol="0" anchor="t"/>
          <a:lstStyle/>
          <a:p>
            <a:pPr algn="r" indent="0" marL="0">
              <a:buNone/>
            </a:pPr>
            <a:r>
              <a:rPr lang="en-US" sz="900" spc="100" kern="0" dirty="0">
                <a:solidFill>
                  <a:srgbClr val="A3A6AC"/>
                </a:solidFill>
                <a:latin typeface="Calibri" pitchFamily="34" charset="0"/>
                <a:ea typeface="Calibri" pitchFamily="34" charset="-122"/>
                <a:cs typeface="Calibri" pitchFamily="34" charset="-120"/>
              </a:rPr>
              <a:t>SIXDO × AMAZON US  |  YÊU CẦU 02  |  3 / 4</a:t>
            </a:r>
            <a:endParaRPr lang="en-US" sz="900" dirty="0"/>
          </a:p>
        </p:txBody>
      </p:sp>
      <p:sp>
        <p:nvSpPr>
          <p:cNvPr id="4" name="Text 2"/>
          <p:cNvSpPr txBox="1"/>
          <p:nvPr/>
        </p:nvSpPr>
        <p:spPr>
          <a:xfrm>
            <a:off x="411480" y="457200"/>
            <a:ext cx="11368735" cy="777240"/>
          </a:xfrm>
          <a:prstGeom prst="rect">
            <a:avLst/>
          </a:prstGeom>
          <a:noFill/>
          <a:ln/>
        </p:spPr>
        <p:txBody>
          <a:bodyPr wrap="square" lIns="0" tIns="0" rIns="0" bIns="0" rtlCol="0" anchor="ctr"/>
          <a:lstStyle/>
          <a:p>
            <a:pPr indent="0" marL="0">
              <a:buNone/>
            </a:pPr>
            <a:r>
              <a:rPr lang="en-US" sz="2300" b="1" dirty="0">
                <a:solidFill>
                  <a:srgbClr val="1C2230"/>
                </a:solidFill>
                <a:latin typeface="Cambria" pitchFamily="34" charset="0"/>
                <a:ea typeface="Cambria" pitchFamily="34" charset="-122"/>
                <a:cs typeface="Cambria" pitchFamily="34" charset="-120"/>
              </a:rPr>
              <a:t>Concentrate a $300 Budget on High-Intent Traffic, Not Reach: Every Click Must Clear a CPC Ceiling</a:t>
            </a:r>
            <a:endParaRPr lang="en-US" sz="2300" dirty="0"/>
          </a:p>
        </p:txBody>
      </p:sp>
      <p:sp>
        <p:nvSpPr>
          <p:cNvPr id="5" name="Text 3"/>
          <p:cNvSpPr txBox="1"/>
          <p:nvPr/>
        </p:nvSpPr>
        <p:spPr>
          <a:xfrm>
            <a:off x="411480" y="1243584"/>
            <a:ext cx="11368735" cy="274320"/>
          </a:xfrm>
          <a:prstGeom prst="rect">
            <a:avLst/>
          </a:prstGeom>
          <a:noFill/>
          <a:ln/>
        </p:spPr>
        <p:txBody>
          <a:bodyPr wrap="square" lIns="0" tIns="0" rIns="0" bIns="0" rtlCol="0" anchor="t"/>
          <a:lstStyle/>
          <a:p>
            <a:pPr indent="0" marL="0">
              <a:buNone/>
            </a:pPr>
            <a:r>
              <a:rPr lang="en-US" sz="1250" i="1" dirty="0">
                <a:solidFill>
                  <a:srgbClr val="6B6F76"/>
                </a:solidFill>
                <a:latin typeface="Calibri" pitchFamily="34" charset="0"/>
                <a:ea typeface="Calibri" pitchFamily="34" charset="-122"/>
                <a:cs typeface="Calibri" pitchFamily="34" charset="-120"/>
              </a:rPr>
              <a:t>$210 PPC + $45 creative + $45 coupon = $300. No permanent markdown at launch.</a:t>
            </a:r>
            <a:endParaRPr lang="en-US" sz="1250" dirty="0"/>
          </a:p>
        </p:txBody>
      </p:sp>
      <p:sp>
        <p:nvSpPr>
          <p:cNvPr id="6" name="Text 4"/>
          <p:cNvSpPr txBox="1"/>
          <p:nvPr/>
        </p:nvSpPr>
        <p:spPr>
          <a:xfrm>
            <a:off x="411480" y="1664208"/>
            <a:ext cx="3291840"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ONSITE BUDGET · $300</a:t>
            </a:r>
            <a:endParaRPr lang="en-US" sz="900" dirty="0"/>
          </a:p>
        </p:txBody>
      </p:sp>
      <p:graphicFrame>
        <p:nvGraphicFramePr>
          <p:cNvPr id="7" name="Chart 0" descr=""/>
          <p:cNvGraphicFramePr/>
          <p:nvPr/>
        </p:nvGraphicFramePr>
        <p:xfrm>
          <a:off x="411480" y="1847088"/>
          <a:ext cx="3291840" cy="22402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417320" y="2606040"/>
            <a:ext cx="1280160" cy="731520"/>
          </a:xfrm>
          <a:prstGeom prst="rect">
            <a:avLst/>
          </a:prstGeom>
          <a:noFill/>
          <a:ln/>
        </p:spPr>
        <p:txBody>
          <a:bodyPr wrap="square" lIns="0" tIns="0" rIns="0" bIns="0" rtlCol="0" anchor="ctr"/>
          <a:lstStyle/>
          <a:p>
            <a:pPr algn="ctr" indent="0" marL="0">
              <a:buNone/>
            </a:pPr>
            <a:r>
              <a:rPr lang="en-US" sz="2200" b="1" dirty="0">
                <a:solidFill>
                  <a:srgbClr val="1C2230"/>
                </a:solidFill>
                <a:latin typeface="Calibri" pitchFamily="34" charset="0"/>
                <a:ea typeface="Calibri" pitchFamily="34" charset="-122"/>
                <a:cs typeface="Calibri" pitchFamily="34" charset="-120"/>
              </a:rPr>
              <a:t>$300</a:t>
            </a:r>
            <a:endParaRPr lang="en-US" sz="1100" dirty="0"/>
          </a:p>
          <a:p>
            <a:pPr algn="ctr" indent="0" marL="0">
              <a:buNone/>
            </a:pPr>
            <a:r>
              <a:rPr lang="en-US" sz="900" dirty="0">
                <a:solidFill>
                  <a:srgbClr val="6B6F76"/>
                </a:solidFill>
                <a:latin typeface="Calibri" pitchFamily="34" charset="0"/>
                <a:ea typeface="Calibri" pitchFamily="34" charset="-122"/>
                <a:cs typeface="Calibri" pitchFamily="34" charset="-120"/>
              </a:rPr>
              <a:t>100%</a:t>
            </a:r>
            <a:endParaRPr lang="en-US" sz="1100" dirty="0"/>
          </a:p>
        </p:txBody>
      </p:sp>
      <p:sp>
        <p:nvSpPr>
          <p:cNvPr id="9" name="Shape 6"/>
          <p:cNvSpPr/>
          <p:nvPr/>
        </p:nvSpPr>
        <p:spPr>
          <a:xfrm>
            <a:off x="411480" y="4178808"/>
            <a:ext cx="128016" cy="128016"/>
          </a:xfrm>
          <a:prstGeom prst="rect">
            <a:avLst/>
          </a:prstGeom>
          <a:solidFill>
            <a:srgbClr val="1C2230"/>
          </a:solidFill>
          <a:ln/>
        </p:spPr>
      </p:sp>
      <p:sp>
        <p:nvSpPr>
          <p:cNvPr id="10" name="Text 7"/>
          <p:cNvSpPr txBox="1"/>
          <p:nvPr/>
        </p:nvSpPr>
        <p:spPr>
          <a:xfrm>
            <a:off x="612648" y="4133088"/>
            <a:ext cx="1920240" cy="219456"/>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Sponsored Products</a:t>
            </a:r>
            <a:endParaRPr lang="en-US" sz="950" dirty="0"/>
          </a:p>
        </p:txBody>
      </p:sp>
      <p:sp>
        <p:nvSpPr>
          <p:cNvPr id="11" name="Text 8"/>
          <p:cNvSpPr txBox="1"/>
          <p:nvPr/>
        </p:nvSpPr>
        <p:spPr>
          <a:xfrm>
            <a:off x="2514600" y="4133088"/>
            <a:ext cx="1188720" cy="219456"/>
          </a:xfrm>
          <a:prstGeom prst="rect">
            <a:avLst/>
          </a:prstGeom>
          <a:noFill/>
          <a:ln/>
        </p:spPr>
        <p:txBody>
          <a:bodyPr wrap="square" lIns="0" tIns="0" rIns="0" bIns="0" rtlCol="0" anchor="ctr"/>
          <a:lstStyle/>
          <a:p>
            <a:pPr algn="r" indent="0" marL="0">
              <a:buNone/>
            </a:pPr>
            <a:r>
              <a:rPr lang="en-US" sz="950" b="1" dirty="0">
                <a:solidFill>
                  <a:srgbClr val="1C2230"/>
                </a:solidFill>
                <a:latin typeface="Calibri" pitchFamily="34" charset="0"/>
                <a:ea typeface="Calibri" pitchFamily="34" charset="-122"/>
                <a:cs typeface="Calibri" pitchFamily="34" charset="-120"/>
              </a:rPr>
              <a:t>$210 · 70%</a:t>
            </a:r>
            <a:endParaRPr lang="en-US" sz="950" dirty="0"/>
          </a:p>
        </p:txBody>
      </p:sp>
      <p:sp>
        <p:nvSpPr>
          <p:cNvPr id="12" name="Shape 9"/>
          <p:cNvSpPr/>
          <p:nvPr/>
        </p:nvSpPr>
        <p:spPr>
          <a:xfrm>
            <a:off x="411480" y="4416552"/>
            <a:ext cx="128016" cy="128016"/>
          </a:xfrm>
          <a:prstGeom prst="rect">
            <a:avLst/>
          </a:prstGeom>
          <a:solidFill>
            <a:srgbClr val="9A9DA5"/>
          </a:solidFill>
          <a:ln/>
        </p:spPr>
      </p:sp>
      <p:sp>
        <p:nvSpPr>
          <p:cNvPr id="13" name="Text 10"/>
          <p:cNvSpPr txBox="1"/>
          <p:nvPr/>
        </p:nvSpPr>
        <p:spPr>
          <a:xfrm>
            <a:off x="612648" y="4370832"/>
            <a:ext cx="1920240" cy="219456"/>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A+ / Gallery adaptation</a:t>
            </a:r>
            <a:endParaRPr lang="en-US" sz="950" dirty="0"/>
          </a:p>
        </p:txBody>
      </p:sp>
      <p:sp>
        <p:nvSpPr>
          <p:cNvPr id="14" name="Text 11"/>
          <p:cNvSpPr txBox="1"/>
          <p:nvPr/>
        </p:nvSpPr>
        <p:spPr>
          <a:xfrm>
            <a:off x="2514600" y="4370832"/>
            <a:ext cx="1188720" cy="219456"/>
          </a:xfrm>
          <a:prstGeom prst="rect">
            <a:avLst/>
          </a:prstGeom>
          <a:noFill/>
          <a:ln/>
        </p:spPr>
        <p:txBody>
          <a:bodyPr wrap="square" lIns="0" tIns="0" rIns="0" bIns="0" rtlCol="0" anchor="ctr"/>
          <a:lstStyle/>
          <a:p>
            <a:pPr algn="r" indent="0" marL="0">
              <a:buNone/>
            </a:pPr>
            <a:r>
              <a:rPr lang="en-US" sz="950" b="1" dirty="0">
                <a:solidFill>
                  <a:srgbClr val="6B6F76"/>
                </a:solidFill>
                <a:latin typeface="Calibri" pitchFamily="34" charset="0"/>
                <a:ea typeface="Calibri" pitchFamily="34" charset="-122"/>
                <a:cs typeface="Calibri" pitchFamily="34" charset="-120"/>
              </a:rPr>
              <a:t>$45 · 15%</a:t>
            </a:r>
            <a:endParaRPr lang="en-US" sz="950" dirty="0"/>
          </a:p>
        </p:txBody>
      </p:sp>
      <p:sp>
        <p:nvSpPr>
          <p:cNvPr id="15" name="Shape 12"/>
          <p:cNvSpPr/>
          <p:nvPr/>
        </p:nvSpPr>
        <p:spPr>
          <a:xfrm>
            <a:off x="411480" y="4654296"/>
            <a:ext cx="128016" cy="128016"/>
          </a:xfrm>
          <a:prstGeom prst="rect">
            <a:avLst/>
          </a:prstGeom>
          <a:solidFill>
            <a:srgbClr val="B8546A"/>
          </a:solidFill>
          <a:ln/>
        </p:spPr>
      </p:sp>
      <p:sp>
        <p:nvSpPr>
          <p:cNvPr id="16" name="Text 13"/>
          <p:cNvSpPr txBox="1"/>
          <p:nvPr/>
        </p:nvSpPr>
        <p:spPr>
          <a:xfrm>
            <a:off x="612648" y="4608576"/>
            <a:ext cx="1920240" cy="219456"/>
          </a:xfrm>
          <a:prstGeom prst="rect">
            <a:avLst/>
          </a:prstGeom>
          <a:noFill/>
          <a:ln/>
        </p:spPr>
        <p:txBody>
          <a:bodyPr wrap="square" lIns="0" tIns="0" rIns="0" bIns="0" rtlCol="0" anchor="ctr"/>
          <a:lstStyle/>
          <a:p>
            <a:pPr indent="0" marL="0">
              <a:buNone/>
            </a:pPr>
            <a:r>
              <a:rPr lang="en-US" sz="950" dirty="0">
                <a:solidFill>
                  <a:srgbClr val="1C2230"/>
                </a:solidFill>
                <a:latin typeface="Calibri" pitchFamily="34" charset="0"/>
                <a:ea typeface="Calibri" pitchFamily="34" charset="-122"/>
                <a:cs typeface="Calibri" pitchFamily="34" charset="-120"/>
              </a:rPr>
              <a:t>Coupon (all-in cap)</a:t>
            </a:r>
            <a:endParaRPr lang="en-US" sz="950" dirty="0"/>
          </a:p>
        </p:txBody>
      </p:sp>
      <p:sp>
        <p:nvSpPr>
          <p:cNvPr id="17" name="Text 14"/>
          <p:cNvSpPr txBox="1"/>
          <p:nvPr/>
        </p:nvSpPr>
        <p:spPr>
          <a:xfrm>
            <a:off x="2514600" y="4608576"/>
            <a:ext cx="1188720" cy="219456"/>
          </a:xfrm>
          <a:prstGeom prst="rect">
            <a:avLst/>
          </a:prstGeom>
          <a:noFill/>
          <a:ln/>
        </p:spPr>
        <p:txBody>
          <a:bodyPr wrap="square" lIns="0" tIns="0" rIns="0" bIns="0" rtlCol="0" anchor="ctr"/>
          <a:lstStyle/>
          <a:p>
            <a:pPr algn="r" indent="0" marL="0">
              <a:buNone/>
            </a:pPr>
            <a:r>
              <a:rPr lang="en-US" sz="950" b="1" dirty="0">
                <a:solidFill>
                  <a:srgbClr val="B8546A"/>
                </a:solidFill>
                <a:latin typeface="Calibri" pitchFamily="34" charset="0"/>
                <a:ea typeface="Calibri" pitchFamily="34" charset="-122"/>
                <a:cs typeface="Calibri" pitchFamily="34" charset="-120"/>
              </a:rPr>
              <a:t>$45 · 15%</a:t>
            </a:r>
            <a:endParaRPr lang="en-US" sz="950" dirty="0"/>
          </a:p>
        </p:txBody>
      </p:sp>
      <p:sp>
        <p:nvSpPr>
          <p:cNvPr id="18" name="Text 15"/>
          <p:cNvSpPr txBox="1"/>
          <p:nvPr/>
        </p:nvSpPr>
        <p:spPr>
          <a:xfrm>
            <a:off x="411480" y="4864608"/>
            <a:ext cx="3291840" cy="365760"/>
          </a:xfrm>
          <a:prstGeom prst="rect">
            <a:avLst/>
          </a:prstGeom>
          <a:noFill/>
          <a:ln/>
        </p:spPr>
        <p:txBody>
          <a:bodyPr wrap="square" lIns="0" tIns="0" rIns="0" bIns="0" rtlCol="0" anchor="t"/>
          <a:lstStyle/>
          <a:p>
            <a:pPr indent="0" marL="0">
              <a:buNone/>
            </a:pPr>
            <a:r>
              <a:rPr lang="en-US" sz="800" i="1" dirty="0">
                <a:solidFill>
                  <a:srgbClr val="6B6F76"/>
                </a:solidFill>
                <a:latin typeface="Calibri" pitchFamily="34" charset="0"/>
                <a:ea typeface="Calibri" pitchFamily="34" charset="-122"/>
                <a:cs typeface="Calibri" pitchFamily="34" charset="-120"/>
              </a:rPr>
              <a:t>External $100 is separate — not in the $300. Track influencer/social traffic with Amazon Attribution.</a:t>
            </a:r>
            <a:endParaRPr lang="en-US" sz="800" dirty="0"/>
          </a:p>
        </p:txBody>
      </p:sp>
      <p:sp>
        <p:nvSpPr>
          <p:cNvPr id="19" name="Text 16"/>
          <p:cNvSpPr txBox="1"/>
          <p:nvPr/>
        </p:nvSpPr>
        <p:spPr>
          <a:xfrm>
            <a:off x="3977640" y="1664208"/>
            <a:ext cx="4160520"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PPC PLAN · $210 ≈ $1.15/DAY</a:t>
            </a:r>
            <a:endParaRPr lang="en-US" sz="900" dirty="0"/>
          </a:p>
        </p:txBody>
      </p:sp>
      <p:graphicFrame>
        <p:nvGraphicFramePr>
          <p:cNvPr id="20" name="Chart 1" descr=""/>
          <p:cNvGraphicFramePr/>
          <p:nvPr/>
        </p:nvGraphicFramePr>
        <p:xfrm>
          <a:off x="3931920" y="1828800"/>
          <a:ext cx="4251960" cy="1874520"/>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txBox="1"/>
          <p:nvPr/>
        </p:nvSpPr>
        <p:spPr>
          <a:xfrm>
            <a:off x="3977640" y="3703320"/>
            <a:ext cx="4160520" cy="201168"/>
          </a:xfrm>
          <a:prstGeom prst="rect">
            <a:avLst/>
          </a:prstGeom>
          <a:noFill/>
          <a:ln/>
        </p:spPr>
        <p:txBody>
          <a:bodyPr wrap="square" lIns="0" tIns="0" rIns="0" bIns="0" rtlCol="0" anchor="t"/>
          <a:lstStyle/>
          <a:p>
            <a:pPr algn="r" indent="0" marL="0">
              <a:buNone/>
            </a:pPr>
            <a:r>
              <a:rPr lang="en-US" sz="900" b="1" dirty="0">
                <a:solidFill>
                  <a:srgbClr val="B8546A"/>
                </a:solidFill>
                <a:latin typeface="Calibri" pitchFamily="34" charset="0"/>
                <a:ea typeface="Calibri" pitchFamily="34" charset="-122"/>
                <a:cs typeface="Calibri" pitchFamily="34" charset="-120"/>
              </a:rPr>
              <a:t>45 + 45 + 35 + 25 + 30 + 30 = $210</a:t>
            </a:r>
            <a:endParaRPr lang="en-US" sz="900" dirty="0"/>
          </a:p>
        </p:txBody>
      </p:sp>
      <p:sp>
        <p:nvSpPr>
          <p:cNvPr id="22" name="Text 18"/>
          <p:cNvSpPr txBox="1"/>
          <p:nvPr/>
        </p:nvSpPr>
        <p:spPr>
          <a:xfrm>
            <a:off x="3977640" y="3950208"/>
            <a:ext cx="1828800" cy="182880"/>
          </a:xfrm>
          <a:prstGeom prst="rect">
            <a:avLst/>
          </a:prstGeom>
          <a:noFill/>
          <a:ln/>
        </p:spPr>
        <p:txBody>
          <a:bodyPr wrap="square" lIns="0" tIns="0" rIns="0" bIns="0" rtlCol="0" anchor="t"/>
          <a:lstStyle/>
          <a:p>
            <a:pPr indent="0" marL="0">
              <a:buNone/>
            </a:pPr>
            <a:r>
              <a:rPr lang="en-US" sz="850" b="1" dirty="0">
                <a:solidFill>
                  <a:srgbClr val="6B6F76"/>
                </a:solidFill>
                <a:latin typeface="Calibri" pitchFamily="34" charset="0"/>
                <a:ea typeface="Calibri" pitchFamily="34" charset="-122"/>
                <a:cs typeface="Calibri" pitchFamily="34" charset="-120"/>
              </a:rPr>
              <a:t>Initial ASIN priority</a:t>
            </a:r>
            <a:endParaRPr lang="en-US" sz="850" dirty="0"/>
          </a:p>
        </p:txBody>
      </p:sp>
      <p:sp>
        <p:nvSpPr>
          <p:cNvPr id="23" name="Shape 19"/>
          <p:cNvSpPr/>
          <p:nvPr/>
        </p:nvSpPr>
        <p:spPr>
          <a:xfrm>
            <a:off x="3977640" y="4160520"/>
            <a:ext cx="1872234" cy="274320"/>
          </a:xfrm>
          <a:prstGeom prst="rect">
            <a:avLst/>
          </a:prstGeom>
          <a:solidFill>
            <a:srgbClr val="B8546A"/>
          </a:solidFill>
          <a:ln/>
        </p:spPr>
      </p:sp>
      <p:sp>
        <p:nvSpPr>
          <p:cNvPr id="24" name="Text 20"/>
          <p:cNvSpPr txBox="1"/>
          <p:nvPr/>
        </p:nvSpPr>
        <p:spPr>
          <a:xfrm>
            <a:off x="3977640" y="4160520"/>
            <a:ext cx="187223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SP2 45%</a:t>
            </a:r>
            <a:endParaRPr lang="en-US" sz="900" dirty="0"/>
          </a:p>
        </p:txBody>
      </p:sp>
      <p:sp>
        <p:nvSpPr>
          <p:cNvPr id="25" name="Shape 21"/>
          <p:cNvSpPr/>
          <p:nvPr/>
        </p:nvSpPr>
        <p:spPr>
          <a:xfrm>
            <a:off x="5849874" y="4160520"/>
            <a:ext cx="1456182" cy="274320"/>
          </a:xfrm>
          <a:prstGeom prst="rect">
            <a:avLst/>
          </a:prstGeom>
          <a:solidFill>
            <a:srgbClr val="2B2B2B"/>
          </a:solidFill>
          <a:ln/>
        </p:spPr>
      </p:sp>
      <p:sp>
        <p:nvSpPr>
          <p:cNvPr id="26" name="Text 22"/>
          <p:cNvSpPr txBox="1"/>
          <p:nvPr/>
        </p:nvSpPr>
        <p:spPr>
          <a:xfrm>
            <a:off x="5849874" y="4160520"/>
            <a:ext cx="1456182"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SP3 35%</a:t>
            </a:r>
            <a:endParaRPr lang="en-US" sz="900" dirty="0"/>
          </a:p>
        </p:txBody>
      </p:sp>
      <p:sp>
        <p:nvSpPr>
          <p:cNvPr id="27" name="Shape 23"/>
          <p:cNvSpPr/>
          <p:nvPr/>
        </p:nvSpPr>
        <p:spPr>
          <a:xfrm>
            <a:off x="7306056" y="4160520"/>
            <a:ext cx="832104" cy="274320"/>
          </a:xfrm>
          <a:prstGeom prst="rect">
            <a:avLst/>
          </a:prstGeom>
          <a:solidFill>
            <a:srgbClr val="4F6D8C"/>
          </a:solidFill>
          <a:ln/>
        </p:spPr>
      </p:sp>
      <p:sp>
        <p:nvSpPr>
          <p:cNvPr id="28" name="Text 24"/>
          <p:cNvSpPr txBox="1"/>
          <p:nvPr/>
        </p:nvSpPr>
        <p:spPr>
          <a:xfrm>
            <a:off x="7306056" y="4160520"/>
            <a:ext cx="83210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SP1 20%</a:t>
            </a:r>
            <a:endParaRPr lang="en-US" sz="900" dirty="0"/>
          </a:p>
        </p:txBody>
      </p:sp>
      <p:sp>
        <p:nvSpPr>
          <p:cNvPr id="29" name="Text 25"/>
          <p:cNvSpPr txBox="1"/>
          <p:nvPr/>
        </p:nvSpPr>
        <p:spPr>
          <a:xfrm>
            <a:off x="3977640" y="4462272"/>
            <a:ext cx="4160520" cy="182880"/>
          </a:xfrm>
          <a:prstGeom prst="rect">
            <a:avLst/>
          </a:prstGeom>
          <a:noFill/>
          <a:ln/>
        </p:spPr>
        <p:txBody>
          <a:bodyPr wrap="square" lIns="0" tIns="0" rIns="0" bIns="0" rtlCol="0" anchor="t"/>
          <a:lstStyle/>
          <a:p>
            <a:pPr indent="0" marL="0">
              <a:buNone/>
            </a:pPr>
            <a:r>
              <a:rPr lang="en-US" sz="850" b="1" i="1" dirty="0">
                <a:solidFill>
                  <a:srgbClr val="B8546A"/>
                </a:solidFill>
                <a:latin typeface="Calibri" pitchFamily="34" charset="0"/>
                <a:ea typeface="Calibri" pitchFamily="34" charset="-122"/>
                <a:cs typeface="Calibri" pitchFamily="34" charset="-120"/>
              </a:rPr>
              <a:t>Reallocate after Day 14 on CVR &amp; orders — not a fixed split.</a:t>
            </a:r>
            <a:endParaRPr lang="en-US" sz="850" dirty="0"/>
          </a:p>
        </p:txBody>
      </p:sp>
      <p:sp>
        <p:nvSpPr>
          <p:cNvPr id="30" name="Text 26"/>
          <p:cNvSpPr txBox="1"/>
          <p:nvPr/>
        </p:nvSpPr>
        <p:spPr>
          <a:xfrm>
            <a:off x="3977640" y="4681728"/>
            <a:ext cx="4160520" cy="548640"/>
          </a:xfrm>
          <a:prstGeom prst="rect">
            <a:avLst/>
          </a:prstGeom>
          <a:noFill/>
          <a:ln/>
        </p:spPr>
        <p:txBody>
          <a:bodyPr wrap="square" lIns="0" tIns="0" rIns="0" bIns="0" rtlCol="0" anchor="t"/>
          <a:lstStyle/>
          <a:p>
            <a:pPr indent="0" marL="0">
              <a:buNone/>
            </a:pPr>
            <a:r>
              <a:rPr lang="en-US" sz="850" b="1" dirty="0">
                <a:solidFill>
                  <a:srgbClr val="1C2230"/>
                </a:solidFill>
                <a:latin typeface="Calibri" pitchFamily="34" charset="0"/>
                <a:ea typeface="Calibri" pitchFamily="34" charset="-122"/>
                <a:cs typeface="Calibri" pitchFamily="34" charset="-120"/>
              </a:rPr>
              <a:t>Weekly: </a:t>
            </a:r>
            <a:pPr indent="0" marL="0">
              <a:buNone/>
            </a:pPr>
            <a:r>
              <a:rPr lang="en-US" sz="850" dirty="0">
                <a:solidFill>
                  <a:srgbClr val="1C2230"/>
                </a:solidFill>
                <a:latin typeface="Calibri" pitchFamily="34" charset="0"/>
                <a:ea typeface="Calibri" pitchFamily="34" charset="-122"/>
                <a:cs typeface="Calibri" pitchFamily="34" charset="-120"/>
              </a:rPr>
              <a:t>order → harvest to Exact · irrelevant → negative · high spend, 0 sales → pause/cut bid · higher-CVR ASIN → more budget. </a:t>
            </a:r>
            <a:pPr indent="0" marL="0">
              <a:buNone/>
            </a:pPr>
            <a:r>
              <a:rPr lang="en-US" sz="850" b="1" dirty="0">
                <a:solidFill>
                  <a:srgbClr val="C98A1B"/>
                </a:solidFill>
                <a:latin typeface="Calibri" pitchFamily="34" charset="0"/>
                <a:ea typeface="Calibri" pitchFamily="34" charset="-122"/>
                <a:cs typeface="Calibri" pitchFamily="34" charset="-120"/>
              </a:rPr>
              <a:t>✕ No generic heads (“women dress”, “maxi dress”, “women jumpsuit”).</a:t>
            </a:r>
            <a:endParaRPr lang="en-US" sz="850" dirty="0"/>
          </a:p>
        </p:txBody>
      </p:sp>
      <p:sp>
        <p:nvSpPr>
          <p:cNvPr id="31" name="Text 27"/>
          <p:cNvSpPr txBox="1"/>
          <p:nvPr/>
        </p:nvSpPr>
        <p:spPr>
          <a:xfrm>
            <a:off x="8366760" y="1664208"/>
            <a:ext cx="3413455"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UNIT ECONOMICS GUARDRAIL</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366760" y="1901952"/>
          <a:ext cx="3413455" cy="914400"/>
        </p:xfrm>
        <a:graphic>
          <a:graphicData uri="http://schemas.openxmlformats.org/drawingml/2006/table">
            <a:tbl>
              <a:tblPr/>
              <a:tblGrid>
                <a:gridCol w="1691640"/>
                <a:gridCol w="905256"/>
                <a:gridCol w="816559"/>
              </a:tblGrid>
              <a:tr h="274320">
                <a:tc>
                  <a:txBody>
                    <a:bodyPr/>
                    <a:lstStyle/>
                    <a:p>
                      <a:pPr algn="r" indent="0" marL="0">
                        <a:buNone/>
                      </a:pPr>
                      <a:endParaRPr lang="en-US" sz="90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SP1 / SP2</a:t>
                      </a:r>
                      <a:endParaRPr lang="en-US" sz="90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SP3</a:t>
                      </a:r>
                      <a:endParaRPr lang="en-US" sz="90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1C2230"/>
                    </a:solidFill>
                  </a:tcPr>
                </a:tc>
              </a:tr>
              <a:tr h="274320">
                <a:tc>
                  <a:txBody>
                    <a:bodyPr/>
                    <a:lstStyle/>
                    <a:p>
                      <a:pPr algn="l" indent="0" marL="0">
                        <a:buNone/>
                      </a:pPr>
                      <a:r>
                        <a:rPr lang="en-US" sz="950" dirty="0">
                          <a:solidFill>
                            <a:srgbClr val="1C2230"/>
                          </a:solidFill>
                          <a:latin typeface="Calibri" pitchFamily="34" charset="0"/>
                          <a:ea typeface="Calibri" pitchFamily="34" charset="-122"/>
                          <a:cs typeface="Calibri" pitchFamily="34" charset="-120"/>
                        </a:rPr>
                        <a:t>Price</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$51.99</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$25.99</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274320">
                <a:tc>
                  <a:txBody>
                    <a:bodyPr/>
                    <a:lstStyle/>
                    <a:p>
                      <a:pPr algn="l" indent="0" marL="0">
                        <a:buNone/>
                      </a:pPr>
                      <a:r>
                        <a:rPr lang="en-US" sz="950" dirty="0">
                          <a:solidFill>
                            <a:srgbClr val="1C2230"/>
                          </a:solidFill>
                          <a:latin typeface="Calibri" pitchFamily="34" charset="0"/>
                          <a:ea typeface="Calibri" pitchFamily="34" charset="-122"/>
                          <a:cs typeface="Calibri" pitchFamily="34" charset="-120"/>
                        </a:rPr>
                        <a:t>– Base cost</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274320">
                <a:tc>
                  <a:txBody>
                    <a:bodyPr/>
                    <a:lstStyle/>
                    <a:p>
                      <a:pPr algn="l" indent="0" marL="0">
                        <a:buNone/>
                      </a:pPr>
                      <a:r>
                        <a:rPr lang="en-US" sz="950" dirty="0">
                          <a:solidFill>
                            <a:srgbClr val="1C2230"/>
                          </a:solidFill>
                          <a:latin typeface="Calibri" pitchFamily="34" charset="0"/>
                          <a:ea typeface="Calibri" pitchFamily="34" charset="-122"/>
                          <a:cs typeface="Calibri" pitchFamily="34" charset="-120"/>
                        </a:rPr>
                        <a:t>– Referral fee 17%*</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$8.84</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dirty="0">
                          <a:solidFill>
                            <a:srgbClr val="1C2230"/>
                          </a:solidFill>
                          <a:latin typeface="Calibri" pitchFamily="34" charset="0"/>
                          <a:ea typeface="Calibri" pitchFamily="34" charset="-122"/>
                          <a:cs typeface="Calibri" pitchFamily="34" charset="-120"/>
                        </a:rPr>
                        <a:t>$4.42</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274320">
                <a:tc>
                  <a:txBody>
                    <a:bodyPr/>
                    <a:lstStyle/>
                    <a:p>
                      <a:pPr algn="l" indent="0" marL="0">
                        <a:buNone/>
                      </a:pPr>
                      <a:r>
                        <a:rPr lang="en-US" sz="950" b="1" dirty="0">
                          <a:solidFill>
                            <a:srgbClr val="1C2230"/>
                          </a:solidFill>
                          <a:latin typeface="Calibri" pitchFamily="34" charset="0"/>
                          <a:ea typeface="Calibri" pitchFamily="34" charset="-122"/>
                          <a:cs typeface="Calibri" pitchFamily="34" charset="-120"/>
                        </a:rPr>
                        <a:t>= Pre-FBA contribution</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b="1" dirty="0">
                          <a:solidFill>
                            <a:srgbClr val="1C2230"/>
                          </a:solidFill>
                          <a:latin typeface="Calibri" pitchFamily="34" charset="0"/>
                          <a:ea typeface="Calibri" pitchFamily="34" charset="-122"/>
                          <a:cs typeface="Calibri" pitchFamily="34" charset="-120"/>
                        </a:rPr>
                        <a:t>$28.15</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b="1" dirty="0">
                          <a:solidFill>
                            <a:srgbClr val="1C2230"/>
                          </a:solidFill>
                          <a:latin typeface="Calibri" pitchFamily="34" charset="0"/>
                          <a:ea typeface="Calibri" pitchFamily="34" charset="-122"/>
                          <a:cs typeface="Calibri" pitchFamily="34" charset="-120"/>
                        </a:rPr>
                        <a:t>$11.57</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274320">
                <a:tc>
                  <a:txBody>
                    <a:bodyPr/>
                    <a:lstStyle/>
                    <a:p>
                      <a:pPr algn="l" indent="0" marL="0">
                        <a:buNone/>
                      </a:pPr>
                      <a:r>
                        <a:rPr lang="en-US" sz="950" b="1" dirty="0">
                          <a:solidFill>
                            <a:srgbClr val="1C2230"/>
                          </a:solidFill>
                          <a:latin typeface="Calibri" pitchFamily="34" charset="0"/>
                          <a:ea typeface="Calibri" pitchFamily="34" charset="-122"/>
                          <a:cs typeface="Calibri" pitchFamily="34" charset="-120"/>
                        </a:rPr>
                        <a:t>ACOS guardrail</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b="1" dirty="0">
                          <a:solidFill>
                            <a:srgbClr val="1C2230"/>
                          </a:solidFill>
                          <a:latin typeface="Calibri" pitchFamily="34" charset="0"/>
                          <a:ea typeface="Calibri" pitchFamily="34" charset="-122"/>
                          <a:cs typeface="Calibri" pitchFamily="34" charset="-120"/>
                        </a:rPr>
                        <a:t>≤ 20%</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c>
                  <a:txBody>
                    <a:bodyPr/>
                    <a:lstStyle/>
                    <a:p>
                      <a:pPr algn="r" indent="0" marL="0">
                        <a:buNone/>
                      </a:pPr>
                      <a:r>
                        <a:rPr lang="en-US" sz="950" b="1" dirty="0">
                          <a:solidFill>
                            <a:srgbClr val="1C2230"/>
                          </a:solidFill>
                          <a:latin typeface="Calibri" pitchFamily="34" charset="0"/>
                          <a:ea typeface="Calibri" pitchFamily="34" charset="-122"/>
                          <a:cs typeface="Calibri" pitchFamily="34" charset="-120"/>
                        </a:rPr>
                        <a:t>≤ 15%</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tcPr>
                </a:tc>
              </a:tr>
              <a:tr h="274320">
                <a:tc>
                  <a:txBody>
                    <a:bodyPr/>
                    <a:lstStyle/>
                    <a:p>
                      <a:pPr algn="l" indent="0" marL="0">
                        <a:buNone/>
                      </a:pPr>
                      <a:r>
                        <a:rPr lang="en-US" sz="950" b="1" dirty="0">
                          <a:solidFill>
                            <a:srgbClr val="B8546A"/>
                          </a:solidFill>
                          <a:latin typeface="Calibri" pitchFamily="34" charset="0"/>
                          <a:ea typeface="Calibri" pitchFamily="34" charset="-122"/>
                          <a:cs typeface="Calibri" pitchFamily="34" charset="-120"/>
                        </a:rPr>
                        <a:t>CPC ceiling @ 9% CVR</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algn="r" indent="0" marL="0">
                        <a:buNone/>
                      </a:pPr>
                      <a:r>
                        <a:rPr lang="en-US" sz="950" b="1" dirty="0">
                          <a:solidFill>
                            <a:srgbClr val="B8546A"/>
                          </a:solidFill>
                          <a:latin typeface="Calibri" pitchFamily="34" charset="0"/>
                          <a:ea typeface="Calibri" pitchFamily="34" charset="-122"/>
                          <a:cs typeface="Calibri" pitchFamily="34" charset="-120"/>
                        </a:rPr>
                        <a:t>$0.94</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c>
                  <a:txBody>
                    <a:bodyPr/>
                    <a:lstStyle/>
                    <a:p>
                      <a:pPr algn="r" indent="0" marL="0">
                        <a:buNone/>
                      </a:pPr>
                      <a:r>
                        <a:rPr lang="en-US" sz="950" b="1" dirty="0">
                          <a:solidFill>
                            <a:srgbClr val="B8546A"/>
                          </a:solidFill>
                          <a:latin typeface="Calibri" pitchFamily="34" charset="0"/>
                          <a:ea typeface="Calibri" pitchFamily="34" charset="-122"/>
                          <a:cs typeface="Calibri" pitchFamily="34" charset="-120"/>
                        </a:rPr>
                        <a:t>$0.35</a:t>
                      </a:r>
                      <a:endParaRPr lang="en-US" sz="950" dirty="0">
                        <a:latin typeface="Calibri" charset="0"/>
                        <a:ea typeface="Calibri" charset="0"/>
                        <a:cs typeface="Calibri" charset="0"/>
                      </a:endParaRPr>
                    </a:p>
                  </a:txBody>
                  <a:tcPr marL="54864" marR="54864" marT="54864" marB="54864" anchor="ctr">
                    <a:lnL w="6350" cap="flat" cmpd="sng" algn="ctr">
                      <a:solidFill>
                        <a:srgbClr val="D9DADF"/>
                      </a:solidFill>
                      <a:prstDash val="solid"/>
                      <a:round/>
                      <a:headEnd type="none" w="med" len="med"/>
                      <a:tailEnd type="none" w="med" len="med"/>
                    </a:lnL>
                    <a:lnR w="6350" cap="flat" cmpd="sng" algn="ctr">
                      <a:solidFill>
                        <a:srgbClr val="D9DADF"/>
                      </a:solidFill>
                      <a:prstDash val="solid"/>
                      <a:round/>
                      <a:headEnd type="none" w="med" len="med"/>
                      <a:tailEnd type="none" w="med" len="med"/>
                    </a:lnR>
                    <a:lnT w="6350" cap="flat" cmpd="sng" algn="ctr">
                      <a:solidFill>
                        <a:srgbClr val="D9DADF"/>
                      </a:solidFill>
                      <a:prstDash val="solid"/>
                      <a:round/>
                      <a:headEnd type="none" w="med" len="med"/>
                      <a:tailEnd type="none" w="med" len="med"/>
                    </a:lnT>
                    <a:lnB w="6350" cap="flat" cmpd="sng" algn="ctr">
                      <a:solidFill>
                        <a:srgbClr val="D9DADF"/>
                      </a:solidFill>
                      <a:prstDash val="solid"/>
                      <a:round/>
                      <a:headEnd type="none" w="med" len="med"/>
                      <a:tailEnd type="none" w="med" len="med"/>
                    </a:lnB>
                    <a:solidFill>
                      <a:srgbClr val="F6E9EC"/>
                    </a:solidFill>
                  </a:tcPr>
                </a:tc>
              </a:tr>
            </a:tbl>
          </a:graphicData>
        </a:graphic>
      </p:graphicFrame>
      <p:sp>
        <p:nvSpPr>
          <p:cNvPr id="33" name="Text 28"/>
          <p:cNvSpPr txBox="1"/>
          <p:nvPr/>
        </p:nvSpPr>
        <p:spPr>
          <a:xfrm>
            <a:off x="8366760" y="3886200"/>
            <a:ext cx="3413455" cy="182880"/>
          </a:xfrm>
          <a:prstGeom prst="rect">
            <a:avLst/>
          </a:prstGeom>
          <a:noFill/>
          <a:ln/>
        </p:spPr>
        <p:txBody>
          <a:bodyPr wrap="square" lIns="0" tIns="0" rIns="0" bIns="0" rtlCol="0" anchor="t"/>
          <a:lstStyle/>
          <a:p>
            <a:pPr indent="0" marL="0">
              <a:buNone/>
            </a:pPr>
            <a:r>
              <a:rPr lang="en-US" sz="850" b="1" dirty="0">
                <a:solidFill>
                  <a:srgbClr val="1C2230"/>
                </a:solidFill>
                <a:latin typeface="Calibri" pitchFamily="34" charset="0"/>
                <a:ea typeface="Calibri" pitchFamily="34" charset="-122"/>
                <a:cs typeface="Calibri" pitchFamily="34" charset="-120"/>
              </a:rPr>
              <a:t>CPC ceiling = Price × CVR × ACOS target</a:t>
            </a:r>
            <a:endParaRPr lang="en-US" sz="850" dirty="0"/>
          </a:p>
        </p:txBody>
      </p:sp>
      <p:sp>
        <p:nvSpPr>
          <p:cNvPr id="34" name="Shape 29"/>
          <p:cNvSpPr/>
          <p:nvPr/>
        </p:nvSpPr>
        <p:spPr>
          <a:xfrm>
            <a:off x="8366760" y="4114800"/>
            <a:ext cx="3413455" cy="502920"/>
          </a:xfrm>
          <a:prstGeom prst="roundRect">
            <a:avLst>
              <a:gd name="adj" fmla="val 9091"/>
            </a:avLst>
          </a:prstGeom>
          <a:solidFill>
            <a:srgbClr val="F6E9EC"/>
          </a:solidFill>
          <a:ln/>
        </p:spPr>
      </p:sp>
      <p:sp>
        <p:nvSpPr>
          <p:cNvPr id="35" name="Text 30"/>
          <p:cNvSpPr txBox="1"/>
          <p:nvPr/>
        </p:nvSpPr>
        <p:spPr>
          <a:xfrm>
            <a:off x="8476488" y="4114800"/>
            <a:ext cx="3193999" cy="502920"/>
          </a:xfrm>
          <a:prstGeom prst="rect">
            <a:avLst/>
          </a:prstGeom>
          <a:noFill/>
          <a:ln/>
        </p:spPr>
        <p:txBody>
          <a:bodyPr wrap="square" lIns="0" tIns="0" rIns="0" bIns="0" rtlCol="0" anchor="ctr"/>
          <a:lstStyle/>
          <a:p>
            <a:pPr indent="0" marL="0">
              <a:buNone/>
            </a:pPr>
            <a:r>
              <a:rPr lang="en-US" sz="1000" b="1" dirty="0">
                <a:solidFill>
                  <a:srgbClr val="B8546A"/>
                </a:solidFill>
                <a:latin typeface="Calibri" pitchFamily="34" charset="0"/>
                <a:ea typeface="Calibri" pitchFamily="34" charset="-122"/>
                <a:cs typeface="Calibri" pitchFamily="34" charset="-120"/>
              </a:rPr>
              <a:t>SP3 affords only ~$0.35/click → exact long-tail only.</a:t>
            </a:r>
            <a:endParaRPr lang="en-US" sz="1000" dirty="0"/>
          </a:p>
        </p:txBody>
      </p:sp>
      <p:sp>
        <p:nvSpPr>
          <p:cNvPr id="36" name="Text 31"/>
          <p:cNvSpPr txBox="1"/>
          <p:nvPr/>
        </p:nvSpPr>
        <p:spPr>
          <a:xfrm>
            <a:off x="8366760" y="4681728"/>
            <a:ext cx="3413455" cy="566928"/>
          </a:xfrm>
          <a:prstGeom prst="rect">
            <a:avLst/>
          </a:prstGeom>
          <a:noFill/>
          <a:ln/>
        </p:spPr>
        <p:txBody>
          <a:bodyPr wrap="square" lIns="0" tIns="0" rIns="0" bIns="0" rtlCol="0" anchor="t"/>
          <a:lstStyle/>
          <a:p>
            <a:pPr indent="0" marL="0">
              <a:buNone/>
            </a:pPr>
            <a:r>
              <a:rPr lang="en-US" sz="750" i="1" dirty="0">
                <a:solidFill>
                  <a:srgbClr val="6B6F76"/>
                </a:solidFill>
                <a:latin typeface="Calibri" pitchFamily="34" charset="0"/>
                <a:ea typeface="Calibri" pitchFamily="34" charset="-122"/>
                <a:cs typeface="Calibri" pitchFamily="34" charset="-120"/>
              </a:rPr>
              <a:t>*Case assumption. Contribution ≠ net profit: excludes FBA, storage, returns, ads, other fees. Not a break-even ACOS (FBA/returns data unavailable). 9% CVR is illustrative — recompute on real baseline.</a:t>
            </a:r>
            <a:endParaRPr lang="en-US" sz="750" dirty="0"/>
          </a:p>
        </p:txBody>
      </p:sp>
      <p:sp>
        <p:nvSpPr>
          <p:cNvPr id="37" name="Shape 32"/>
          <p:cNvSpPr/>
          <p:nvPr/>
        </p:nvSpPr>
        <p:spPr>
          <a:xfrm>
            <a:off x="411480" y="5321808"/>
            <a:ext cx="5570068" cy="822960"/>
          </a:xfrm>
          <a:prstGeom prst="roundRect">
            <a:avLst>
              <a:gd name="adj" fmla="val 5556"/>
            </a:avLst>
          </a:prstGeom>
          <a:solidFill>
            <a:srgbClr val="F3F3F5"/>
          </a:solidFill>
          <a:ln/>
        </p:spPr>
      </p:sp>
      <p:sp>
        <p:nvSpPr>
          <p:cNvPr id="38" name="Text 33"/>
          <p:cNvSpPr txBox="1"/>
          <p:nvPr/>
        </p:nvSpPr>
        <p:spPr>
          <a:xfrm>
            <a:off x="548640" y="5367528"/>
            <a:ext cx="5295748" cy="749808"/>
          </a:xfrm>
          <a:prstGeom prst="rect">
            <a:avLst/>
          </a:prstGeom>
          <a:noFill/>
          <a:ln/>
        </p:spPr>
        <p:txBody>
          <a:bodyPr wrap="square" lIns="0" tIns="0" rIns="0" bIns="0" rtlCol="0" anchor="ctr"/>
          <a:lstStyle/>
          <a:p>
            <a:pPr indent="0" marL="0">
              <a:buNone/>
            </a:pPr>
            <a:r>
              <a:rPr lang="en-US" sz="1050" b="1" dirty="0">
                <a:solidFill>
                  <a:srgbClr val="B8546A"/>
                </a:solidFill>
                <a:latin typeface="Calibri" pitchFamily="34" charset="0"/>
                <a:ea typeface="Calibri" pitchFamily="34" charset="-122"/>
                <a:cs typeface="Calibri" pitchFamily="34" charset="-120"/>
              </a:rPr>
              <a:t>COUPON  5%  </a:t>
            </a:r>
            <a:pPr indent="0" marL="0">
              <a:buNone/>
            </a:pPr>
            <a:r>
              <a:rPr lang="en-US" sz="900" b="1" dirty="0">
                <a:solidFill>
                  <a:srgbClr val="1C2230"/>
                </a:solidFill>
                <a:latin typeface="Calibri" pitchFamily="34" charset="0"/>
                <a:ea typeface="Calibri" pitchFamily="34" charset="-122"/>
                <a:cs typeface="Calibri" pitchFamily="34" charset="-120"/>
              </a:rPr>
              <a:t>SP2 ≈ $2.60/unit · SP3 ≈ $1.30/unit · capped at $45 (≤ ~17 SP2 or ~34 SP3 redemptions before Amazon fees)</a:t>
            </a:r>
            <a:endParaRPr lang="en-US" sz="900" dirty="0"/>
          </a:p>
          <a:p>
            <a:pPr indent="0" marL="0">
              <a:buNone/>
            </a:pPr>
            <a:r>
              <a:rPr lang="en-US" sz="900" dirty="0">
                <a:solidFill>
                  <a:srgbClr val="1C2230"/>
                </a:solidFill>
                <a:latin typeface="Calibri" pitchFamily="34" charset="0"/>
                <a:ea typeface="Calibri" pitchFamily="34" charset="-122"/>
                <a:cs typeface="Calibri" pitchFamily="34" charset="-120"/>
              </a:rPr>
              <a:t>Nov–Dec: SP2 + SP3 Black · Jan–Feb: SP2 + SP3 Pink · SP1 only if high traffic + low CVR. List prices stay $51.99 / $51.99 / $25.99.</a:t>
            </a:r>
            <a:endParaRPr lang="en-US" sz="900" dirty="0"/>
          </a:p>
        </p:txBody>
      </p:sp>
      <p:sp>
        <p:nvSpPr>
          <p:cNvPr id="39" name="Shape 34"/>
          <p:cNvSpPr/>
          <p:nvPr/>
        </p:nvSpPr>
        <p:spPr>
          <a:xfrm>
            <a:off x="6210148" y="5321808"/>
            <a:ext cx="5570068" cy="822960"/>
          </a:xfrm>
          <a:prstGeom prst="roundRect">
            <a:avLst>
              <a:gd name="adj" fmla="val 5556"/>
            </a:avLst>
          </a:prstGeom>
          <a:solidFill>
            <a:srgbClr val="F3F3F5"/>
          </a:solidFill>
          <a:ln/>
        </p:spPr>
      </p:sp>
      <p:sp>
        <p:nvSpPr>
          <p:cNvPr id="40" name="Text 35"/>
          <p:cNvSpPr txBox="1"/>
          <p:nvPr/>
        </p:nvSpPr>
        <p:spPr>
          <a:xfrm>
            <a:off x="6347308" y="5367528"/>
            <a:ext cx="5295748" cy="749808"/>
          </a:xfrm>
          <a:prstGeom prst="rect">
            <a:avLst/>
          </a:prstGeom>
          <a:noFill/>
          <a:ln/>
        </p:spPr>
        <p:txBody>
          <a:bodyPr wrap="square" lIns="0" tIns="0" rIns="0" bIns="0" rtlCol="0" anchor="ctr"/>
          <a:lstStyle/>
          <a:p>
            <a:pPr indent="0" marL="0">
              <a:buNone/>
            </a:pPr>
            <a:r>
              <a:rPr lang="en-US" sz="1050" b="1" dirty="0">
                <a:solidFill>
                  <a:srgbClr val="1C2230"/>
                </a:solidFill>
                <a:latin typeface="Calibri" pitchFamily="34" charset="0"/>
                <a:ea typeface="Calibri" pitchFamily="34" charset="-122"/>
                <a:cs typeface="Calibri" pitchFamily="34" charset="-120"/>
              </a:rPr>
              <a:t>BUNDLE  ✕ physical  </a:t>
            </a:r>
            <a:pPr indent="0" marL="0">
              <a:buNone/>
            </a:pPr>
            <a:r>
              <a:rPr lang="en-US" sz="900" b="1" dirty="0">
                <a:solidFill>
                  <a:srgbClr val="1C2230"/>
                </a:solidFill>
                <a:latin typeface="Calibri" pitchFamily="34" charset="0"/>
                <a:ea typeface="Calibri" pitchFamily="34" charset="-122"/>
                <a:cs typeface="Calibri" pitchFamily="34" charset="-120"/>
              </a:rPr>
              <a:t>3 items are substitute outfits; size/color depth unknown.</a:t>
            </a:r>
            <a:endParaRPr lang="en-US" sz="900" dirty="0"/>
          </a:p>
          <a:p>
            <a:pPr indent="0" marL="0">
              <a:buNone/>
            </a:pPr>
            <a:r>
              <a:rPr lang="en-US" sz="900" dirty="0">
                <a:solidFill>
                  <a:srgbClr val="1C2230"/>
                </a:solidFill>
                <a:latin typeface="Calibri" pitchFamily="34" charset="0"/>
                <a:ea typeface="Calibri" pitchFamily="34" charset="-122"/>
                <a:cs typeface="Calibri" pitchFamily="34" charset="-120"/>
              </a:rPr>
              <a:t>Use A+ comparison chart + Brand Store cross-sell. Test a Virtual Bundle only if inventory, basket data and economics all support it.</a:t>
            </a:r>
            <a:endParaRPr lang="en-US" sz="900" dirty="0"/>
          </a:p>
        </p:txBody>
      </p:sp>
      <p:sp>
        <p:nvSpPr>
          <p:cNvPr id="41" name="Shape 36"/>
          <p:cNvSpPr/>
          <p:nvPr/>
        </p:nvSpPr>
        <p:spPr>
          <a:xfrm>
            <a:off x="411480" y="6245352"/>
            <a:ext cx="11368735" cy="384048"/>
          </a:xfrm>
          <a:prstGeom prst="roundRect">
            <a:avLst>
              <a:gd name="adj" fmla="val 14286"/>
            </a:avLst>
          </a:prstGeom>
          <a:solidFill>
            <a:srgbClr val="1C2230"/>
          </a:solidFill>
          <a:ln/>
        </p:spPr>
      </p:sp>
      <p:sp>
        <p:nvSpPr>
          <p:cNvPr id="42" name="Text 37"/>
          <p:cNvSpPr txBox="1"/>
          <p:nvPr/>
        </p:nvSpPr>
        <p:spPr>
          <a:xfrm>
            <a:off x="640080" y="6245352"/>
            <a:ext cx="10911535"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$300 cannot buy reach — so we buy intent: every click under the CPC ceiling, every coupon targeted.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572000" cy="228600"/>
          </a:xfrm>
          <a:prstGeom prst="rect">
            <a:avLst/>
          </a:prstGeom>
          <a:noFill/>
          <a:ln/>
        </p:spPr>
        <p:txBody>
          <a:bodyPr wrap="square" lIns="0" tIns="0" rIns="0" bIns="0" rtlCol="0" anchor="t"/>
          <a:lstStyle/>
          <a:p>
            <a:pPr indent="0" marL="0">
              <a:buNone/>
            </a:pPr>
            <a:r>
              <a:rPr lang="en-US" sz="900" spc="200" kern="0" dirty="0">
                <a:solidFill>
                  <a:srgbClr val="A3A6AC"/>
                </a:solidFill>
                <a:latin typeface="Calibri" pitchFamily="34" charset="0"/>
                <a:ea typeface="Calibri" pitchFamily="34" charset="-122"/>
                <a:cs typeface="Calibri" pitchFamily="34" charset="-120"/>
              </a:rPr>
              <a:t>WHY</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WHAT</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spc="200" kern="0" dirty="0">
                <a:solidFill>
                  <a:srgbClr val="A3A6AC"/>
                </a:solidFill>
                <a:latin typeface="Calibri" pitchFamily="34" charset="0"/>
                <a:ea typeface="Calibri" pitchFamily="34" charset="-122"/>
                <a:cs typeface="Calibri" pitchFamily="34" charset="-120"/>
              </a:rPr>
              <a:t>HOW</a:t>
            </a:r>
            <a:pPr indent="0" marL="0">
              <a:buNone/>
            </a:pPr>
            <a:r>
              <a:rPr lang="en-US" sz="900" spc="200" kern="0" dirty="0">
                <a:solidFill>
                  <a:srgbClr val="A3A6AC"/>
                </a:solidFill>
                <a:latin typeface="Calibri" pitchFamily="34" charset="0"/>
                <a:ea typeface="Calibri" pitchFamily="34" charset="-122"/>
                <a:cs typeface="Calibri" pitchFamily="34" charset="-120"/>
              </a:rPr>
              <a:t>  ·  </a:t>
            </a:r>
            <a:pPr indent="0" marL="0">
              <a:buNone/>
            </a:pPr>
            <a:r>
              <a:rPr lang="en-US" sz="900" b="1" spc="200" kern="0" dirty="0">
                <a:solidFill>
                  <a:srgbClr val="B8546A"/>
                </a:solidFill>
                <a:latin typeface="Calibri" pitchFamily="34" charset="0"/>
                <a:ea typeface="Calibri" pitchFamily="34" charset="-122"/>
                <a:cs typeface="Calibri" pitchFamily="34" charset="-120"/>
              </a:rPr>
              <a:t>CONTROL</a:t>
            </a:r>
            <a:endParaRPr lang="en-US" sz="900" dirty="0"/>
          </a:p>
        </p:txBody>
      </p:sp>
      <p:sp>
        <p:nvSpPr>
          <p:cNvPr id="3" name="Text 1"/>
          <p:cNvSpPr txBox="1"/>
          <p:nvPr/>
        </p:nvSpPr>
        <p:spPr>
          <a:xfrm>
            <a:off x="7208215" y="201168"/>
            <a:ext cx="4572000" cy="228600"/>
          </a:xfrm>
          <a:prstGeom prst="rect">
            <a:avLst/>
          </a:prstGeom>
          <a:noFill/>
          <a:ln/>
        </p:spPr>
        <p:txBody>
          <a:bodyPr wrap="square" lIns="0" tIns="0" rIns="0" bIns="0" rtlCol="0" anchor="t"/>
          <a:lstStyle/>
          <a:p>
            <a:pPr algn="r" indent="0" marL="0">
              <a:buNone/>
            </a:pPr>
            <a:r>
              <a:rPr lang="en-US" sz="900" spc="100" kern="0" dirty="0">
                <a:solidFill>
                  <a:srgbClr val="A3A6AC"/>
                </a:solidFill>
                <a:latin typeface="Calibri" pitchFamily="34" charset="0"/>
                <a:ea typeface="Calibri" pitchFamily="34" charset="-122"/>
                <a:cs typeface="Calibri" pitchFamily="34" charset="-120"/>
              </a:rPr>
              <a:t>SIXDO × AMAZON US  |  YÊU CẦU 02  |  4 / 4</a:t>
            </a:r>
            <a:endParaRPr lang="en-US" sz="900" dirty="0"/>
          </a:p>
        </p:txBody>
      </p:sp>
      <p:sp>
        <p:nvSpPr>
          <p:cNvPr id="4" name="Text 2"/>
          <p:cNvSpPr txBox="1"/>
          <p:nvPr/>
        </p:nvSpPr>
        <p:spPr>
          <a:xfrm>
            <a:off x="411480" y="457200"/>
            <a:ext cx="11368735" cy="777240"/>
          </a:xfrm>
          <a:prstGeom prst="rect">
            <a:avLst/>
          </a:prstGeom>
          <a:noFill/>
          <a:ln/>
        </p:spPr>
        <p:txBody>
          <a:bodyPr wrap="square" lIns="0" tIns="0" rIns="0" bIns="0" rtlCol="0" anchor="ctr"/>
          <a:lstStyle/>
          <a:p>
            <a:pPr indent="0" marL="0">
              <a:buNone/>
            </a:pPr>
            <a:r>
              <a:rPr lang="en-US" sz="2300" b="1" dirty="0">
                <a:solidFill>
                  <a:srgbClr val="1C2230"/>
                </a:solidFill>
                <a:latin typeface="Cambria" pitchFamily="34" charset="0"/>
                <a:ea typeface="Cambria" pitchFamily="34" charset="-122"/>
                <a:cs typeface="Cambria" pitchFamily="34" charset="-120"/>
              </a:rPr>
              <a:t>Run the 182-Day Campaign as a Test–Learn–Scale–Exit System, Steered by Unit Session % and Weeks of Cover</a:t>
            </a:r>
            <a:endParaRPr lang="en-US" sz="2300" dirty="0"/>
          </a:p>
        </p:txBody>
      </p:sp>
      <p:sp>
        <p:nvSpPr>
          <p:cNvPr id="5" name="Shape 3"/>
          <p:cNvSpPr/>
          <p:nvPr/>
        </p:nvSpPr>
        <p:spPr>
          <a:xfrm>
            <a:off x="411480" y="1325880"/>
            <a:ext cx="860450" cy="502920"/>
          </a:xfrm>
          <a:prstGeom prst="rect">
            <a:avLst/>
          </a:prstGeom>
          <a:solidFill>
            <a:srgbClr val="E4E5E9"/>
          </a:solidFill>
          <a:ln/>
        </p:spPr>
      </p:sp>
      <p:sp>
        <p:nvSpPr>
          <p:cNvPr id="6" name="Text 4"/>
          <p:cNvSpPr txBox="1"/>
          <p:nvPr/>
        </p:nvSpPr>
        <p:spPr>
          <a:xfrm>
            <a:off x="466344" y="1325880"/>
            <a:ext cx="769010" cy="502920"/>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① REBUILD</a:t>
            </a:r>
            <a:endParaRPr lang="en-US" sz="1100" dirty="0"/>
          </a:p>
          <a:p>
            <a:pPr indent="0" marL="0">
              <a:buNone/>
            </a:pPr>
            <a:r>
              <a:rPr lang="en-US" sz="650" dirty="0">
                <a:solidFill>
                  <a:srgbClr val="1C2230"/>
                </a:solidFill>
                <a:latin typeface="Calibri" pitchFamily="34" charset="0"/>
                <a:ea typeface="Calibri" pitchFamily="34" charset="-122"/>
                <a:cs typeface="Calibri" pitchFamily="34" charset="-120"/>
              </a:rPr>
              <a:t>Oct 1–14 · 14d</a:t>
            </a:r>
            <a:endParaRPr lang="en-US" sz="1100" dirty="0"/>
          </a:p>
        </p:txBody>
      </p:sp>
      <p:sp>
        <p:nvSpPr>
          <p:cNvPr id="7" name="Text 5"/>
          <p:cNvSpPr txBox="1"/>
          <p:nvPr/>
        </p:nvSpPr>
        <p:spPr>
          <a:xfrm>
            <a:off x="448056" y="1874520"/>
            <a:ext cx="769010" cy="566928"/>
          </a:xfrm>
          <a:prstGeom prst="rect">
            <a:avLst/>
          </a:prstGeom>
          <a:noFill/>
          <a:ln/>
        </p:spPr>
        <p:txBody>
          <a:bodyPr wrap="square" lIns="0" tIns="0" rIns="0" bIns="0" rtlCol="0" anchor="t"/>
          <a:lstStyle/>
          <a:p>
            <a:pPr indent="0" marL="0">
              <a:buNone/>
            </a:pPr>
            <a:r>
              <a:rPr lang="en-US" sz="700" dirty="0">
                <a:solidFill>
                  <a:srgbClr val="1C2230"/>
                </a:solidFill>
                <a:latin typeface="Calibri" pitchFamily="34" charset="0"/>
                <a:ea typeface="Calibri" pitchFamily="34" charset="-122"/>
                <a:cs typeface="Calibri" pitchFamily="34" charset="-120"/>
              </a:rPr>
              <a:t>Lock baseline · titles, bullets, SEO · gallery + A+ · PPC setup</a:t>
            </a:r>
            <a:endParaRPr lang="en-US" sz="700" dirty="0"/>
          </a:p>
        </p:txBody>
      </p:sp>
      <p:sp>
        <p:nvSpPr>
          <p:cNvPr id="8" name="Shape 6"/>
          <p:cNvSpPr/>
          <p:nvPr/>
        </p:nvSpPr>
        <p:spPr>
          <a:xfrm>
            <a:off x="1317650" y="1325880"/>
            <a:ext cx="1966744" cy="502920"/>
          </a:xfrm>
          <a:prstGeom prst="rect">
            <a:avLst/>
          </a:prstGeom>
          <a:solidFill>
            <a:srgbClr val="C9CBD2"/>
          </a:solidFill>
          <a:ln/>
        </p:spPr>
      </p:sp>
      <p:sp>
        <p:nvSpPr>
          <p:cNvPr id="9" name="Text 7"/>
          <p:cNvSpPr txBox="1"/>
          <p:nvPr/>
        </p:nvSpPr>
        <p:spPr>
          <a:xfrm>
            <a:off x="1372514" y="1325880"/>
            <a:ext cx="1875304" cy="502920"/>
          </a:xfrm>
          <a:prstGeom prst="rect">
            <a:avLst/>
          </a:prstGeom>
          <a:noFill/>
          <a:ln/>
        </p:spPr>
        <p:txBody>
          <a:bodyPr wrap="square" lIns="0" tIns="0" rIns="0" bIns="0" rtlCol="0" anchor="ctr"/>
          <a:lstStyle/>
          <a:p>
            <a:pPr indent="0" marL="0">
              <a:buNone/>
            </a:pPr>
            <a:r>
              <a:rPr lang="en-US" sz="1050" b="1" dirty="0">
                <a:solidFill>
                  <a:srgbClr val="1C2230"/>
                </a:solidFill>
                <a:latin typeface="Calibri" pitchFamily="34" charset="0"/>
                <a:ea typeface="Calibri" pitchFamily="34" charset="-122"/>
                <a:cs typeface="Calibri" pitchFamily="34" charset="-120"/>
              </a:rPr>
              <a:t>② LEARN</a:t>
            </a:r>
            <a:endParaRPr lang="en-US" sz="1100" dirty="0"/>
          </a:p>
          <a:p>
            <a:pPr indent="0" marL="0">
              <a:buNone/>
            </a:pPr>
            <a:r>
              <a:rPr lang="en-US" sz="800" dirty="0">
                <a:solidFill>
                  <a:srgbClr val="1C2230"/>
                </a:solidFill>
                <a:latin typeface="Calibri" pitchFamily="34" charset="0"/>
                <a:ea typeface="Calibri" pitchFamily="34" charset="-122"/>
                <a:cs typeface="Calibri" pitchFamily="34" charset="-120"/>
              </a:rPr>
              <a:t>Oct 15–Nov 15 · 32d</a:t>
            </a:r>
            <a:endParaRPr lang="en-US" sz="1100" dirty="0"/>
          </a:p>
        </p:txBody>
      </p:sp>
      <p:sp>
        <p:nvSpPr>
          <p:cNvPr id="10" name="Text 8"/>
          <p:cNvSpPr txBox="1"/>
          <p:nvPr/>
        </p:nvSpPr>
        <p:spPr>
          <a:xfrm>
            <a:off x="1354226" y="1874520"/>
            <a:ext cx="1875304" cy="566928"/>
          </a:xfrm>
          <a:prstGeom prst="rect">
            <a:avLst/>
          </a:prstGeom>
          <a:noFill/>
          <a:ln/>
        </p:spPr>
        <p:txBody>
          <a:bodyPr wrap="square" lIns="0" tIns="0" rIns="0" bIns="0" rtlCol="0" anchor="t"/>
          <a:lstStyle/>
          <a:p>
            <a:pPr indent="0" marL="0">
              <a:buNone/>
            </a:pPr>
            <a:r>
              <a:rPr lang="en-US" sz="850" dirty="0">
                <a:solidFill>
                  <a:srgbClr val="1C2230"/>
                </a:solidFill>
                <a:latin typeface="Calibri" pitchFamily="34" charset="0"/>
                <a:ea typeface="Calibri" pitchFamily="34" charset="-122"/>
                <a:cs typeface="Calibri" pitchFamily="34" charset="-120"/>
              </a:rPr>
              <a:t>Search-term mining · negatives · harvest Exact · validate Hero · Day-14 reallocation</a:t>
            </a:r>
            <a:endParaRPr lang="en-US" sz="850" dirty="0"/>
          </a:p>
        </p:txBody>
      </p:sp>
      <p:sp>
        <p:nvSpPr>
          <p:cNvPr id="11" name="Shape 9"/>
          <p:cNvSpPr/>
          <p:nvPr/>
        </p:nvSpPr>
        <p:spPr>
          <a:xfrm>
            <a:off x="3330114" y="1325880"/>
            <a:ext cx="2827194" cy="502920"/>
          </a:xfrm>
          <a:prstGeom prst="rect">
            <a:avLst/>
          </a:prstGeom>
          <a:solidFill>
            <a:srgbClr val="B8546A"/>
          </a:solidFill>
          <a:ln/>
        </p:spPr>
      </p:sp>
      <p:sp>
        <p:nvSpPr>
          <p:cNvPr id="12" name="Text 10"/>
          <p:cNvSpPr txBox="1"/>
          <p:nvPr/>
        </p:nvSpPr>
        <p:spPr>
          <a:xfrm>
            <a:off x="3384978" y="1325880"/>
            <a:ext cx="2735754"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③ HOLIDAY PUSH</a:t>
            </a:r>
            <a:endParaRPr lang="en-US" sz="1100" dirty="0"/>
          </a:p>
          <a:p>
            <a:pPr indent="0" marL="0">
              <a:buNone/>
            </a:pPr>
            <a:r>
              <a:rPr lang="en-US" sz="800" dirty="0">
                <a:solidFill>
                  <a:srgbClr val="FFFFFF"/>
                </a:solidFill>
                <a:latin typeface="Calibri" pitchFamily="34" charset="0"/>
                <a:ea typeface="Calibri" pitchFamily="34" charset="-122"/>
                <a:cs typeface="Calibri" pitchFamily="34" charset="-120"/>
              </a:rPr>
              <a:t>Nov 16–Dec 31 · 46d</a:t>
            </a:r>
            <a:endParaRPr lang="en-US" sz="1100" dirty="0"/>
          </a:p>
        </p:txBody>
      </p:sp>
      <p:sp>
        <p:nvSpPr>
          <p:cNvPr id="13" name="Text 11"/>
          <p:cNvSpPr txBox="1"/>
          <p:nvPr/>
        </p:nvSpPr>
        <p:spPr>
          <a:xfrm>
            <a:off x="3366690" y="1874520"/>
            <a:ext cx="2735754" cy="566928"/>
          </a:xfrm>
          <a:prstGeom prst="rect">
            <a:avLst/>
          </a:prstGeom>
          <a:noFill/>
          <a:ln/>
        </p:spPr>
        <p:txBody>
          <a:bodyPr wrap="square" lIns="0" tIns="0" rIns="0" bIns="0" rtlCol="0" anchor="t"/>
          <a:lstStyle/>
          <a:p>
            <a:pPr indent="0" marL="0">
              <a:buNone/>
            </a:pPr>
            <a:r>
              <a:rPr lang="en-US" sz="850" dirty="0">
                <a:solidFill>
                  <a:srgbClr val="1C2230"/>
                </a:solidFill>
                <a:latin typeface="Calibri" pitchFamily="34" charset="0"/>
                <a:ea typeface="Calibri" pitchFamily="34" charset="-122"/>
                <a:cs typeface="Calibri" pitchFamily="34" charset="-120"/>
              </a:rPr>
              <a:t>SP2 wedding/dinner/brunch · SP3 Black party/date · SP1 travel/cruise · coupon on</a:t>
            </a:r>
            <a:endParaRPr lang="en-US" sz="850" dirty="0"/>
          </a:p>
        </p:txBody>
      </p:sp>
      <p:sp>
        <p:nvSpPr>
          <p:cNvPr id="14" name="Shape 12"/>
          <p:cNvSpPr/>
          <p:nvPr/>
        </p:nvSpPr>
        <p:spPr>
          <a:xfrm>
            <a:off x="6203028" y="1325880"/>
            <a:ext cx="2765733" cy="502920"/>
          </a:xfrm>
          <a:prstGeom prst="rect">
            <a:avLst/>
          </a:prstGeom>
          <a:solidFill>
            <a:srgbClr val="8C909B"/>
          </a:solidFill>
          <a:ln/>
        </p:spPr>
      </p:sp>
      <p:sp>
        <p:nvSpPr>
          <p:cNvPr id="15" name="Text 13"/>
          <p:cNvSpPr txBox="1"/>
          <p:nvPr/>
        </p:nvSpPr>
        <p:spPr>
          <a:xfrm>
            <a:off x="6257892" y="1325880"/>
            <a:ext cx="2674293"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④ Q1 SHIFT</a:t>
            </a:r>
            <a:endParaRPr lang="en-US" sz="1100" dirty="0"/>
          </a:p>
          <a:p>
            <a:pPr indent="0" marL="0">
              <a:buNone/>
            </a:pPr>
            <a:r>
              <a:rPr lang="en-US" sz="800" dirty="0">
                <a:solidFill>
                  <a:srgbClr val="FFFFFF"/>
                </a:solidFill>
                <a:latin typeface="Calibri" pitchFamily="34" charset="0"/>
                <a:ea typeface="Calibri" pitchFamily="34" charset="-122"/>
                <a:cs typeface="Calibri" pitchFamily="34" charset="-120"/>
              </a:rPr>
              <a:t>Jan 1–Feb 14 · 45d</a:t>
            </a:r>
            <a:endParaRPr lang="en-US" sz="1100" dirty="0"/>
          </a:p>
        </p:txBody>
      </p:sp>
      <p:sp>
        <p:nvSpPr>
          <p:cNvPr id="16" name="Text 14"/>
          <p:cNvSpPr txBox="1"/>
          <p:nvPr/>
        </p:nvSpPr>
        <p:spPr>
          <a:xfrm>
            <a:off x="6239604" y="1874520"/>
            <a:ext cx="2674293" cy="566928"/>
          </a:xfrm>
          <a:prstGeom prst="rect">
            <a:avLst/>
          </a:prstGeom>
          <a:noFill/>
          <a:ln/>
        </p:spPr>
        <p:txBody>
          <a:bodyPr wrap="square" lIns="0" tIns="0" rIns="0" bIns="0" rtlCol="0" anchor="t"/>
          <a:lstStyle/>
          <a:p>
            <a:pPr indent="0" marL="0">
              <a:buNone/>
            </a:pPr>
            <a:r>
              <a:rPr lang="en-US" sz="850" dirty="0">
                <a:solidFill>
                  <a:srgbClr val="1C2230"/>
                </a:solidFill>
                <a:latin typeface="Calibri" pitchFamily="34" charset="0"/>
                <a:ea typeface="Calibri" pitchFamily="34" charset="-122"/>
                <a:cs typeface="Calibri" pitchFamily="34" charset="-120"/>
              </a:rPr>
              <a:t>Swap SP3 to Pink · Valentine + travel intent · date night</a:t>
            </a:r>
            <a:endParaRPr lang="en-US" sz="850" dirty="0"/>
          </a:p>
        </p:txBody>
      </p:sp>
      <p:sp>
        <p:nvSpPr>
          <p:cNvPr id="17" name="Shape 15"/>
          <p:cNvSpPr/>
          <p:nvPr/>
        </p:nvSpPr>
        <p:spPr>
          <a:xfrm>
            <a:off x="9014482" y="1325880"/>
            <a:ext cx="2765733" cy="502920"/>
          </a:xfrm>
          <a:prstGeom prst="rect">
            <a:avLst/>
          </a:prstGeom>
          <a:solidFill>
            <a:srgbClr val="1C2230"/>
          </a:solidFill>
          <a:ln/>
        </p:spPr>
      </p:sp>
      <p:sp>
        <p:nvSpPr>
          <p:cNvPr id="18" name="Text 16"/>
          <p:cNvSpPr txBox="1"/>
          <p:nvPr/>
        </p:nvSpPr>
        <p:spPr>
          <a:xfrm>
            <a:off x="9069346" y="1325880"/>
            <a:ext cx="2674293"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⑤ EXIT</a:t>
            </a:r>
            <a:endParaRPr lang="en-US" sz="1100" dirty="0"/>
          </a:p>
          <a:p>
            <a:pPr indent="0" marL="0">
              <a:buNone/>
            </a:pPr>
            <a:r>
              <a:rPr lang="en-US" sz="800" dirty="0">
                <a:solidFill>
                  <a:srgbClr val="FFFFFF"/>
                </a:solidFill>
                <a:latin typeface="Calibri" pitchFamily="34" charset="0"/>
                <a:ea typeface="Calibri" pitchFamily="34" charset="-122"/>
                <a:cs typeface="Calibri" pitchFamily="34" charset="-120"/>
              </a:rPr>
              <a:t>Feb 15–Mar 31 · 45d</a:t>
            </a:r>
            <a:endParaRPr lang="en-US" sz="1100" dirty="0"/>
          </a:p>
        </p:txBody>
      </p:sp>
      <p:sp>
        <p:nvSpPr>
          <p:cNvPr id="19" name="Text 17"/>
          <p:cNvSpPr txBox="1"/>
          <p:nvPr/>
        </p:nvSpPr>
        <p:spPr>
          <a:xfrm>
            <a:off x="9051058" y="1874520"/>
            <a:ext cx="2674293" cy="566928"/>
          </a:xfrm>
          <a:prstGeom prst="rect">
            <a:avLst/>
          </a:prstGeom>
          <a:noFill/>
          <a:ln/>
        </p:spPr>
        <p:txBody>
          <a:bodyPr wrap="square" lIns="0" tIns="0" rIns="0" bIns="0" rtlCol="0" anchor="t"/>
          <a:lstStyle/>
          <a:p>
            <a:pPr indent="0" marL="0">
              <a:buNone/>
            </a:pPr>
            <a:r>
              <a:rPr lang="en-US" sz="850" dirty="0">
                <a:solidFill>
                  <a:srgbClr val="1C2230"/>
                </a:solidFill>
                <a:latin typeface="Calibri" pitchFamily="34" charset="0"/>
                <a:ea typeface="Calibri" pitchFamily="34" charset="-122"/>
                <a:cs typeface="Calibri" pitchFamily="34" charset="-120"/>
              </a:rPr>
              <a:t>Stop discovery · keep winning keywords · push high Weeks-of-Cover SKUs · hit ≥90%</a:t>
            </a:r>
            <a:endParaRPr lang="en-US" sz="850" dirty="0"/>
          </a:p>
        </p:txBody>
      </p:sp>
      <p:sp>
        <p:nvSpPr>
          <p:cNvPr id="20" name="Text 18"/>
          <p:cNvSpPr txBox="1"/>
          <p:nvPr/>
        </p:nvSpPr>
        <p:spPr>
          <a:xfrm>
            <a:off x="9037015" y="1115568"/>
            <a:ext cx="2743200" cy="182880"/>
          </a:xfrm>
          <a:prstGeom prst="rect">
            <a:avLst/>
          </a:prstGeom>
          <a:noFill/>
          <a:ln/>
        </p:spPr>
        <p:txBody>
          <a:bodyPr wrap="square" lIns="0" tIns="0" rIns="0" bIns="0" rtlCol="0" anchor="t"/>
          <a:lstStyle/>
          <a:p>
            <a:pPr algn="r" indent="0" marL="0">
              <a:buNone/>
            </a:pPr>
            <a:r>
              <a:rPr lang="en-US" sz="800" i="1" dirty="0">
                <a:solidFill>
                  <a:srgbClr val="6B6F76"/>
                </a:solidFill>
                <a:latin typeface="Calibri" pitchFamily="34" charset="0"/>
                <a:ea typeface="Calibri" pitchFamily="34" charset="-122"/>
                <a:cs typeface="Calibri" pitchFamily="34" charset="-120"/>
              </a:rPr>
              <a:t>14 + 32 + 46 + 45 + 45 = 182 days</a:t>
            </a:r>
            <a:endParaRPr lang="en-US" sz="800" dirty="0"/>
          </a:p>
        </p:txBody>
      </p:sp>
      <p:sp>
        <p:nvSpPr>
          <p:cNvPr id="21" name="Text 19"/>
          <p:cNvSpPr txBox="1"/>
          <p:nvPr/>
        </p:nvSpPr>
        <p:spPr>
          <a:xfrm>
            <a:off x="411480" y="2542032"/>
            <a:ext cx="6400800" cy="201168"/>
          </a:xfrm>
          <a:prstGeom prst="rect">
            <a:avLst/>
          </a:prstGeom>
          <a:noFill/>
          <a:ln/>
        </p:spPr>
        <p:txBody>
          <a:bodyPr wrap="square" lIns="0" tIns="0" rIns="0" bIns="0" rtlCol="0" anchor="t"/>
          <a:lstStyle/>
          <a:p>
            <a:pPr indent="0" marL="0">
              <a:buNone/>
            </a:pPr>
            <a:r>
              <a:rPr lang="en-US" sz="900" b="1" spc="100" kern="0" dirty="0">
                <a:solidFill>
                  <a:srgbClr val="6B6F76"/>
                </a:solidFill>
                <a:latin typeface="Calibri" pitchFamily="34" charset="0"/>
                <a:ea typeface="Calibri" pitchFamily="34" charset="-122"/>
                <a:cs typeface="Calibri" pitchFamily="34" charset="-120"/>
              </a:rPr>
              <a:t>INVENTORY DEPLETION · cumulative units sold (management target)</a:t>
            </a:r>
            <a:endParaRPr lang="en-US" sz="900" dirty="0"/>
          </a:p>
        </p:txBody>
      </p:sp>
      <p:graphicFrame>
        <p:nvGraphicFramePr>
          <p:cNvPr id="22" name="Chart 0" descr=""/>
          <p:cNvGraphicFramePr/>
          <p:nvPr/>
        </p:nvGraphicFramePr>
        <p:xfrm>
          <a:off x="365760" y="2724912"/>
          <a:ext cx="6309360" cy="205740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411480" y="4791456"/>
            <a:ext cx="6217920" cy="201168"/>
          </a:xfrm>
          <a:prstGeom prst="rect">
            <a:avLst/>
          </a:prstGeom>
          <a:noFill/>
          <a:ln/>
        </p:spPr>
        <p:txBody>
          <a:bodyPr wrap="square" lIns="0" tIns="0" rIns="0" bIns="0" rtlCol="0" anchor="t"/>
          <a:lstStyle/>
          <a:p>
            <a:pPr algn="ctr" indent="0" marL="0">
              <a:buNone/>
            </a:pPr>
            <a:r>
              <a:rPr lang="en-US" sz="900" b="1" dirty="0">
                <a:solidFill>
                  <a:srgbClr val="B8546A"/>
                </a:solidFill>
                <a:latin typeface="Calibri" pitchFamily="34" charset="0"/>
                <a:ea typeface="Calibri" pitchFamily="34" charset="-122"/>
                <a:cs typeface="Calibri" pitchFamily="34" charset="-120"/>
              </a:rPr>
              <a:t>25% · 28   →   45% · 50   →   65% · 72   →   80% · 88   →   90% · 99</a:t>
            </a:r>
            <a:endParaRPr lang="en-US" sz="900" dirty="0"/>
          </a:p>
        </p:txBody>
      </p:sp>
      <p:sp>
        <p:nvSpPr>
          <p:cNvPr id="24" name="Text 21"/>
          <p:cNvSpPr txBox="1"/>
          <p:nvPr/>
        </p:nvSpPr>
        <p:spPr>
          <a:xfrm>
            <a:off x="411480" y="4992624"/>
            <a:ext cx="6217920" cy="201168"/>
          </a:xfrm>
          <a:prstGeom prst="rect">
            <a:avLst/>
          </a:prstGeom>
          <a:noFill/>
          <a:ln/>
        </p:spPr>
        <p:txBody>
          <a:bodyPr wrap="square" lIns="0" tIns="0" rIns="0" bIns="0" rtlCol="0" anchor="t"/>
          <a:lstStyle/>
          <a:p>
            <a:pPr algn="ctr" indent="0" marL="0">
              <a:buNone/>
            </a:pPr>
            <a:r>
              <a:rPr lang="en-US" sz="800" i="1" dirty="0">
                <a:solidFill>
                  <a:srgbClr val="6B6F76"/>
                </a:solidFill>
                <a:latin typeface="Calibri" pitchFamily="34" charset="0"/>
                <a:ea typeface="Calibri" pitchFamily="34" charset="-122"/>
                <a:cs typeface="Calibri" pitchFamily="34" charset="-120"/>
              </a:rPr>
              <a:t>Avg pace 99 ÷ 182 = 0.54 units/day ≈ 3.8/week ≈ 16.5/month · managed by child SKU (size × color), no per-ASIN split assumed</a:t>
            </a:r>
            <a:endParaRPr lang="en-US" sz="800" dirty="0"/>
          </a:p>
        </p:txBody>
      </p:sp>
      <p:sp>
        <p:nvSpPr>
          <p:cNvPr id="25" name="Text 22"/>
          <p:cNvSpPr txBox="1"/>
          <p:nvPr/>
        </p:nvSpPr>
        <p:spPr>
          <a:xfrm>
            <a:off x="6903720" y="2542032"/>
            <a:ext cx="4876495" cy="201168"/>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KPI DASHBOARD</a:t>
            </a:r>
            <a:endParaRPr lang="en-US" sz="900" dirty="0"/>
          </a:p>
        </p:txBody>
      </p:sp>
      <p:sp>
        <p:nvSpPr>
          <p:cNvPr id="26" name="Shape 23"/>
          <p:cNvSpPr/>
          <p:nvPr/>
        </p:nvSpPr>
        <p:spPr>
          <a:xfrm>
            <a:off x="6903720" y="2761488"/>
            <a:ext cx="1534058" cy="1463040"/>
          </a:xfrm>
          <a:prstGeom prst="roundRect">
            <a:avLst>
              <a:gd name="adj" fmla="val 3750"/>
            </a:avLst>
          </a:prstGeom>
          <a:solidFill>
            <a:srgbClr val="F6E9EC"/>
          </a:solidFill>
          <a:ln w="12700">
            <a:solidFill>
              <a:srgbClr val="B8546A"/>
            </a:solidFill>
            <a:prstDash val="solid"/>
          </a:ln>
        </p:spPr>
      </p:sp>
      <p:sp>
        <p:nvSpPr>
          <p:cNvPr id="27" name="Text 24"/>
          <p:cNvSpPr txBox="1"/>
          <p:nvPr/>
        </p:nvSpPr>
        <p:spPr>
          <a:xfrm>
            <a:off x="7013448" y="2816352"/>
            <a:ext cx="1314602" cy="201168"/>
          </a:xfrm>
          <a:prstGeom prst="rect">
            <a:avLst/>
          </a:prstGeom>
          <a:noFill/>
          <a:ln/>
        </p:spPr>
        <p:txBody>
          <a:bodyPr wrap="square" lIns="0" tIns="0" rIns="0" bIns="0" rtlCol="0" anchor="t"/>
          <a:lstStyle/>
          <a:p>
            <a:pPr indent="0" marL="0">
              <a:buNone/>
            </a:pPr>
            <a:r>
              <a:rPr lang="en-US" sz="850" b="1" spc="100" kern="0" dirty="0">
                <a:solidFill>
                  <a:srgbClr val="6B6F76"/>
                </a:solidFill>
                <a:latin typeface="Calibri" pitchFamily="34" charset="0"/>
                <a:ea typeface="Calibri" pitchFamily="34" charset="-122"/>
                <a:cs typeface="Calibri" pitchFamily="34" charset="-120"/>
              </a:rPr>
              <a:t>NORTH STAR</a:t>
            </a:r>
            <a:endParaRPr lang="en-US" sz="850" dirty="0"/>
          </a:p>
        </p:txBody>
      </p:sp>
      <p:sp>
        <p:nvSpPr>
          <p:cNvPr id="28" name="Text 25"/>
          <p:cNvSpPr txBox="1"/>
          <p:nvPr/>
        </p:nvSpPr>
        <p:spPr>
          <a:xfrm>
            <a:off x="7013448" y="3017520"/>
            <a:ext cx="1314602" cy="502920"/>
          </a:xfrm>
          <a:prstGeom prst="rect">
            <a:avLst/>
          </a:prstGeom>
          <a:noFill/>
          <a:ln/>
        </p:spPr>
        <p:txBody>
          <a:bodyPr wrap="square" lIns="0" tIns="0" rIns="0" bIns="0" rtlCol="0" anchor="ctr"/>
          <a:lstStyle/>
          <a:p>
            <a:pPr indent="0" marL="0">
              <a:buNone/>
            </a:pPr>
            <a:r>
              <a:rPr lang="en-US" sz="2600" b="1" dirty="0">
                <a:solidFill>
                  <a:srgbClr val="B8546A"/>
                </a:solidFill>
                <a:latin typeface="Calibri" pitchFamily="34" charset="0"/>
                <a:ea typeface="Calibri" pitchFamily="34" charset="-122"/>
                <a:cs typeface="Calibri" pitchFamily="34" charset="-120"/>
              </a:rPr>
              <a:t>×1.5</a:t>
            </a:r>
            <a:endParaRPr lang="en-US" sz="2600" dirty="0"/>
          </a:p>
        </p:txBody>
      </p:sp>
      <p:sp>
        <p:nvSpPr>
          <p:cNvPr id="29" name="Text 26"/>
          <p:cNvSpPr txBox="1"/>
          <p:nvPr/>
        </p:nvSpPr>
        <p:spPr>
          <a:xfrm>
            <a:off x="7013448" y="3547872"/>
            <a:ext cx="1351178" cy="658368"/>
          </a:xfrm>
          <a:prstGeom prst="rect">
            <a:avLst/>
          </a:prstGeom>
          <a:noFill/>
          <a:ln/>
        </p:spPr>
        <p:txBody>
          <a:bodyPr wrap="square" lIns="0" tIns="0" rIns="0" bIns="0" rtlCol="0" anchor="t"/>
          <a:lstStyle/>
          <a:p>
            <a:pPr indent="0" marL="0">
              <a:buNone/>
            </a:pPr>
            <a:r>
              <a:rPr lang="en-US" sz="850" b="1" dirty="0">
                <a:solidFill>
                  <a:srgbClr val="1C2230"/>
                </a:solidFill>
                <a:latin typeface="Calibri" pitchFamily="34" charset="0"/>
                <a:ea typeface="Calibri" pitchFamily="34" charset="-122"/>
                <a:cs typeface="Calibri" pitchFamily="34" charset="-120"/>
              </a:rPr>
              <a:t>Unit Session % (Units ÷ Sessions)</a:t>
            </a:r>
            <a:endParaRPr lang="en-US" sz="850" dirty="0"/>
          </a:p>
          <a:p>
            <a:pPr indent="0" marL="0">
              <a:buNone/>
            </a:pPr>
            <a:r>
              <a:rPr lang="en-US" sz="850" i="1" dirty="0">
                <a:solidFill>
                  <a:srgbClr val="6B6F76"/>
                </a:solidFill>
                <a:latin typeface="Calibri" pitchFamily="34" charset="0"/>
                <a:ea typeface="Calibri" pitchFamily="34" charset="-122"/>
                <a:cs typeface="Calibri" pitchFamily="34" charset="-120"/>
              </a:rPr>
              <a:t>Illustrative: 6% → 9%, not 56%</a:t>
            </a:r>
            <a:endParaRPr lang="en-US" sz="850" dirty="0"/>
          </a:p>
        </p:txBody>
      </p:sp>
      <p:sp>
        <p:nvSpPr>
          <p:cNvPr id="30" name="Shape 27"/>
          <p:cNvSpPr/>
          <p:nvPr/>
        </p:nvSpPr>
        <p:spPr>
          <a:xfrm>
            <a:off x="8574938" y="2761488"/>
            <a:ext cx="1534058" cy="1463040"/>
          </a:xfrm>
          <a:prstGeom prst="roundRect">
            <a:avLst>
              <a:gd name="adj" fmla="val 3750"/>
            </a:avLst>
          </a:prstGeom>
          <a:solidFill>
            <a:srgbClr val="F3F3F5"/>
          </a:solidFill>
          <a:ln/>
        </p:spPr>
      </p:sp>
      <p:sp>
        <p:nvSpPr>
          <p:cNvPr id="31" name="Text 28"/>
          <p:cNvSpPr txBox="1"/>
          <p:nvPr/>
        </p:nvSpPr>
        <p:spPr>
          <a:xfrm>
            <a:off x="8684666" y="2816352"/>
            <a:ext cx="1314602" cy="201168"/>
          </a:xfrm>
          <a:prstGeom prst="rect">
            <a:avLst/>
          </a:prstGeom>
          <a:noFill/>
          <a:ln/>
        </p:spPr>
        <p:txBody>
          <a:bodyPr wrap="square" lIns="0" tIns="0" rIns="0" bIns="0" rtlCol="0" anchor="t"/>
          <a:lstStyle/>
          <a:p>
            <a:pPr indent="0" marL="0">
              <a:buNone/>
            </a:pPr>
            <a:r>
              <a:rPr lang="en-US" sz="850" b="1" spc="100" kern="0" dirty="0">
                <a:solidFill>
                  <a:srgbClr val="6B6F76"/>
                </a:solidFill>
                <a:latin typeface="Calibri" pitchFamily="34" charset="0"/>
                <a:ea typeface="Calibri" pitchFamily="34" charset="-122"/>
                <a:cs typeface="Calibri" pitchFamily="34" charset="-120"/>
              </a:rPr>
              <a:t>INVENTORY</a:t>
            </a:r>
            <a:endParaRPr lang="en-US" sz="850" dirty="0"/>
          </a:p>
        </p:txBody>
      </p:sp>
      <p:sp>
        <p:nvSpPr>
          <p:cNvPr id="32" name="Text 29"/>
          <p:cNvSpPr txBox="1"/>
          <p:nvPr/>
        </p:nvSpPr>
        <p:spPr>
          <a:xfrm>
            <a:off x="8684666" y="3017520"/>
            <a:ext cx="1314602" cy="502920"/>
          </a:xfrm>
          <a:prstGeom prst="rect">
            <a:avLst/>
          </a:prstGeom>
          <a:noFill/>
          <a:ln/>
        </p:spPr>
        <p:txBody>
          <a:bodyPr wrap="square" lIns="0" tIns="0" rIns="0" bIns="0" rtlCol="0" anchor="ctr"/>
          <a:lstStyle/>
          <a:p>
            <a:pPr indent="0" marL="0">
              <a:buNone/>
            </a:pPr>
            <a:r>
              <a:rPr lang="en-US" sz="2600" b="1" dirty="0">
                <a:solidFill>
                  <a:srgbClr val="B8546A"/>
                </a:solidFill>
                <a:latin typeface="Calibri" pitchFamily="34" charset="0"/>
                <a:ea typeface="Calibri" pitchFamily="34" charset="-122"/>
                <a:cs typeface="Calibri" pitchFamily="34" charset="-120"/>
              </a:rPr>
              <a:t>≥90%</a:t>
            </a:r>
            <a:endParaRPr lang="en-US" sz="2600" dirty="0"/>
          </a:p>
        </p:txBody>
      </p:sp>
      <p:sp>
        <p:nvSpPr>
          <p:cNvPr id="33" name="Text 30"/>
          <p:cNvSpPr txBox="1"/>
          <p:nvPr/>
        </p:nvSpPr>
        <p:spPr>
          <a:xfrm>
            <a:off x="8684666" y="3547872"/>
            <a:ext cx="1351178" cy="658368"/>
          </a:xfrm>
          <a:prstGeom prst="rect">
            <a:avLst/>
          </a:prstGeom>
          <a:noFill/>
          <a:ln/>
        </p:spPr>
        <p:txBody>
          <a:bodyPr wrap="square" lIns="0" tIns="0" rIns="0" bIns="0" rtlCol="0" anchor="t"/>
          <a:lstStyle/>
          <a:p>
            <a:pPr indent="0" marL="0">
              <a:buNone/>
            </a:pPr>
            <a:r>
              <a:rPr lang="en-US" sz="850" b="1" dirty="0">
                <a:solidFill>
                  <a:srgbClr val="1C2230"/>
                </a:solidFill>
                <a:latin typeface="Calibri" pitchFamily="34" charset="0"/>
                <a:ea typeface="Calibri" pitchFamily="34" charset="-122"/>
                <a:cs typeface="Calibri" pitchFamily="34" charset="-120"/>
              </a:rPr>
              <a:t>Sell-through</a:t>
            </a:r>
            <a:endParaRPr lang="en-US" sz="850" dirty="0"/>
          </a:p>
          <a:p>
            <a:pPr indent="0" marL="0">
              <a:buNone/>
            </a:pPr>
            <a:r>
              <a:rPr lang="en-US" sz="850" dirty="0">
                <a:solidFill>
                  <a:srgbClr val="6B6F76"/>
                </a:solidFill>
                <a:latin typeface="Calibri" pitchFamily="34" charset="0"/>
                <a:ea typeface="Calibri" pitchFamily="34" charset="-122"/>
                <a:cs typeface="Calibri" pitchFamily="34" charset="-120"/>
              </a:rPr>
              <a:t>99 of 110 units by Mar 31</a:t>
            </a:r>
            <a:endParaRPr lang="en-US" sz="850" dirty="0"/>
          </a:p>
        </p:txBody>
      </p:sp>
      <p:sp>
        <p:nvSpPr>
          <p:cNvPr id="34" name="Shape 31"/>
          <p:cNvSpPr/>
          <p:nvPr/>
        </p:nvSpPr>
        <p:spPr>
          <a:xfrm>
            <a:off x="10246157" y="2761488"/>
            <a:ext cx="1534058" cy="1463040"/>
          </a:xfrm>
          <a:prstGeom prst="roundRect">
            <a:avLst>
              <a:gd name="adj" fmla="val 3750"/>
            </a:avLst>
          </a:prstGeom>
          <a:solidFill>
            <a:srgbClr val="F3F3F5"/>
          </a:solidFill>
          <a:ln/>
        </p:spPr>
      </p:sp>
      <p:sp>
        <p:nvSpPr>
          <p:cNvPr id="35" name="Text 32"/>
          <p:cNvSpPr txBox="1"/>
          <p:nvPr/>
        </p:nvSpPr>
        <p:spPr>
          <a:xfrm>
            <a:off x="10355885" y="2816352"/>
            <a:ext cx="1314602" cy="201168"/>
          </a:xfrm>
          <a:prstGeom prst="rect">
            <a:avLst/>
          </a:prstGeom>
          <a:noFill/>
          <a:ln/>
        </p:spPr>
        <p:txBody>
          <a:bodyPr wrap="square" lIns="0" tIns="0" rIns="0" bIns="0" rtlCol="0" anchor="t"/>
          <a:lstStyle/>
          <a:p>
            <a:pPr indent="0" marL="0">
              <a:buNone/>
            </a:pPr>
            <a:r>
              <a:rPr lang="en-US" sz="850" b="1" spc="100" kern="0" dirty="0">
                <a:solidFill>
                  <a:srgbClr val="6B6F76"/>
                </a:solidFill>
                <a:latin typeface="Calibri" pitchFamily="34" charset="0"/>
                <a:ea typeface="Calibri" pitchFamily="34" charset="-122"/>
                <a:cs typeface="Calibri" pitchFamily="34" charset="-120"/>
              </a:rPr>
              <a:t>SPEND</a:t>
            </a:r>
            <a:endParaRPr lang="en-US" sz="850" dirty="0"/>
          </a:p>
        </p:txBody>
      </p:sp>
      <p:sp>
        <p:nvSpPr>
          <p:cNvPr id="36" name="Text 33"/>
          <p:cNvSpPr txBox="1"/>
          <p:nvPr/>
        </p:nvSpPr>
        <p:spPr>
          <a:xfrm>
            <a:off x="10355885" y="3017520"/>
            <a:ext cx="1314602" cy="502920"/>
          </a:xfrm>
          <a:prstGeom prst="rect">
            <a:avLst/>
          </a:prstGeom>
          <a:noFill/>
          <a:ln/>
        </p:spPr>
        <p:txBody>
          <a:bodyPr wrap="square" lIns="0" tIns="0" rIns="0" bIns="0" rtlCol="0" anchor="ctr"/>
          <a:lstStyle/>
          <a:p>
            <a:pPr indent="0" marL="0">
              <a:buNone/>
            </a:pPr>
            <a:r>
              <a:rPr lang="en-US" sz="2600" b="1" dirty="0">
                <a:solidFill>
                  <a:srgbClr val="B8546A"/>
                </a:solidFill>
                <a:latin typeface="Calibri" pitchFamily="34" charset="0"/>
                <a:ea typeface="Calibri" pitchFamily="34" charset="-122"/>
                <a:cs typeface="Calibri" pitchFamily="34" charset="-120"/>
              </a:rPr>
              <a:t>≤$300</a:t>
            </a:r>
            <a:endParaRPr lang="en-US" sz="2600" dirty="0"/>
          </a:p>
        </p:txBody>
      </p:sp>
      <p:sp>
        <p:nvSpPr>
          <p:cNvPr id="37" name="Text 34"/>
          <p:cNvSpPr txBox="1"/>
          <p:nvPr/>
        </p:nvSpPr>
        <p:spPr>
          <a:xfrm>
            <a:off x="10355885" y="3547872"/>
            <a:ext cx="1351178" cy="658368"/>
          </a:xfrm>
          <a:prstGeom prst="rect">
            <a:avLst/>
          </a:prstGeom>
          <a:noFill/>
          <a:ln/>
        </p:spPr>
        <p:txBody>
          <a:bodyPr wrap="square" lIns="0" tIns="0" rIns="0" bIns="0" rtlCol="0" anchor="t"/>
          <a:lstStyle/>
          <a:p>
            <a:pPr indent="0" marL="0">
              <a:buNone/>
            </a:pPr>
            <a:r>
              <a:rPr lang="en-US" sz="850" b="1" dirty="0">
                <a:solidFill>
                  <a:srgbClr val="1C2230"/>
                </a:solidFill>
                <a:latin typeface="Calibri" pitchFamily="34" charset="0"/>
                <a:ea typeface="Calibri" pitchFamily="34" charset="-122"/>
                <a:cs typeface="Calibri" pitchFamily="34" charset="-120"/>
              </a:rPr>
              <a:t>Amazon onsite total</a:t>
            </a:r>
            <a:endParaRPr lang="en-US" sz="850" dirty="0"/>
          </a:p>
          <a:p>
            <a:pPr indent="0" marL="0">
              <a:buNone/>
            </a:pPr>
            <a:r>
              <a:rPr lang="en-US" sz="850" dirty="0">
                <a:solidFill>
                  <a:srgbClr val="6B6F76"/>
                </a:solidFill>
                <a:latin typeface="Calibri" pitchFamily="34" charset="0"/>
                <a:ea typeface="Calibri" pitchFamily="34" charset="-122"/>
                <a:cs typeface="Calibri" pitchFamily="34" charset="-120"/>
              </a:rPr>
              <a:t>PPC ≤ $210</a:t>
            </a:r>
            <a:endParaRPr lang="en-US" sz="850" dirty="0"/>
          </a:p>
        </p:txBody>
      </p:sp>
      <p:sp>
        <p:nvSpPr>
          <p:cNvPr id="38" name="Shape 35"/>
          <p:cNvSpPr/>
          <p:nvPr/>
        </p:nvSpPr>
        <p:spPr>
          <a:xfrm>
            <a:off x="6903720" y="4315968"/>
            <a:ext cx="4876495" cy="877824"/>
          </a:xfrm>
          <a:prstGeom prst="roundRect">
            <a:avLst>
              <a:gd name="adj" fmla="val 5208"/>
            </a:avLst>
          </a:prstGeom>
          <a:solidFill>
            <a:srgbClr val="FFFFFF"/>
          </a:solidFill>
          <a:ln w="12700">
            <a:solidFill>
              <a:srgbClr val="D9DADF"/>
            </a:solidFill>
            <a:prstDash val="solid"/>
          </a:ln>
        </p:spPr>
      </p:sp>
      <p:sp>
        <p:nvSpPr>
          <p:cNvPr id="39" name="Text 36"/>
          <p:cNvSpPr txBox="1"/>
          <p:nvPr/>
        </p:nvSpPr>
        <p:spPr>
          <a:xfrm>
            <a:off x="7013448" y="4352544"/>
            <a:ext cx="4657039" cy="822960"/>
          </a:xfrm>
          <a:prstGeom prst="rect">
            <a:avLst/>
          </a:prstGeom>
          <a:noFill/>
          <a:ln/>
        </p:spPr>
        <p:txBody>
          <a:bodyPr wrap="square" lIns="0" tIns="0" rIns="0" bIns="0" rtlCol="0" anchor="ctr"/>
          <a:lstStyle/>
          <a:p>
            <a:pPr indent="0" marL="0">
              <a:spcAft>
                <a:spcPts val="200"/>
              </a:spcAft>
              <a:buNone/>
            </a:pPr>
            <a:r>
              <a:rPr lang="en-US" sz="900" b="1" dirty="0">
                <a:solidFill>
                  <a:srgbClr val="1C2230"/>
                </a:solidFill>
                <a:latin typeface="Calibri" pitchFamily="34" charset="0"/>
                <a:ea typeface="Calibri" pitchFamily="34" charset="-122"/>
                <a:cs typeface="Calibri" pitchFamily="34" charset="-120"/>
              </a:rPr>
              <a:t>Weekly signals:  </a:t>
            </a:r>
            <a:pPr indent="0" marL="0">
              <a:spcAft>
                <a:spcPts val="200"/>
              </a:spcAft>
              <a:buNone/>
            </a:pPr>
            <a:r>
              <a:rPr lang="en-US" sz="900" b="1" dirty="0">
                <a:solidFill>
                  <a:srgbClr val="B8546A"/>
                </a:solidFill>
                <a:latin typeface="Calibri" pitchFamily="34" charset="0"/>
                <a:ea typeface="Calibri" pitchFamily="34" charset="-122"/>
                <a:cs typeface="Calibri" pitchFamily="34" charset="-120"/>
              </a:rPr>
              <a:t>Sessions · CTR · CVR · Orders · ACOS · Weeks of Cover · Returns</a:t>
            </a:r>
            <a:endParaRPr lang="en-US" sz="900" dirty="0"/>
          </a:p>
          <a:p>
            <a:pPr indent="0" marL="0">
              <a:spcAft>
                <a:spcPts val="200"/>
              </a:spcAft>
              <a:buNone/>
            </a:pPr>
            <a:r>
              <a:rPr lang="en-US" sz="900" dirty="0">
                <a:solidFill>
                  <a:srgbClr val="1C2230"/>
                </a:solidFill>
                <a:latin typeface="Calibri" pitchFamily="34" charset="0"/>
                <a:ea typeface="Calibri" pitchFamily="34" charset="-122"/>
                <a:cs typeface="Calibri" pitchFamily="34" charset="-120"/>
              </a:rPr>
              <a:t>Weeks of Cover = Sellable inventory ÷ Avg weekly unit sales</a:t>
            </a:r>
            <a:endParaRPr lang="en-US" sz="900" dirty="0"/>
          </a:p>
          <a:p>
            <a:pPr indent="0" marL="0">
              <a:spcAft>
                <a:spcPts val="200"/>
              </a:spcAft>
              <a:buNone/>
            </a:pPr>
            <a:r>
              <a:rPr lang="en-US" sz="800" i="1" dirty="0">
                <a:solidFill>
                  <a:srgbClr val="6B6F76"/>
                </a:solidFill>
                <a:latin typeface="Calibri" pitchFamily="34" charset="0"/>
                <a:ea typeface="Calibri" pitchFamily="34" charset="-122"/>
                <a:cs typeface="Calibri" pitchFamily="34" charset="-120"/>
              </a:rPr>
              <a:t>Sources: Business Reports (by child ASIN) · Search Term Report · Campaign Manager · FBA Inventory · Returns</a:t>
            </a:r>
            <a:endParaRPr lang="en-US" sz="900" dirty="0"/>
          </a:p>
        </p:txBody>
      </p:sp>
      <p:sp>
        <p:nvSpPr>
          <p:cNvPr id="40" name="Text 37"/>
          <p:cNvSpPr txBox="1"/>
          <p:nvPr/>
        </p:nvSpPr>
        <p:spPr>
          <a:xfrm>
            <a:off x="411480" y="5285232"/>
            <a:ext cx="4572000" cy="182880"/>
          </a:xfrm>
          <a:prstGeom prst="rect">
            <a:avLst/>
          </a:prstGeom>
          <a:noFill/>
          <a:ln/>
        </p:spPr>
        <p:txBody>
          <a:bodyPr wrap="square" lIns="0" tIns="0" rIns="0" bIns="0" rtlCol="0" anchor="t"/>
          <a:lstStyle/>
          <a:p>
            <a:pPr indent="0" marL="0">
              <a:buNone/>
            </a:pPr>
            <a:r>
              <a:rPr lang="en-US" sz="900" b="1" spc="200" kern="0" dirty="0">
                <a:solidFill>
                  <a:srgbClr val="6B6F76"/>
                </a:solidFill>
                <a:latin typeface="Calibri" pitchFamily="34" charset="0"/>
                <a:ea typeface="Calibri" pitchFamily="34" charset="-122"/>
                <a:cs typeface="Calibri" pitchFamily="34" charset="-120"/>
              </a:rPr>
              <a:t>DECISION RULES · IF → THEN</a:t>
            </a:r>
            <a:endParaRPr lang="en-US" sz="900" dirty="0"/>
          </a:p>
        </p:txBody>
      </p:sp>
      <p:sp>
        <p:nvSpPr>
          <p:cNvPr id="41" name="Shape 38"/>
          <p:cNvSpPr/>
          <p:nvPr/>
        </p:nvSpPr>
        <p:spPr>
          <a:xfrm>
            <a:off x="411480" y="5486400"/>
            <a:ext cx="2200595" cy="566928"/>
          </a:xfrm>
          <a:prstGeom prst="roundRect">
            <a:avLst>
              <a:gd name="adj" fmla="val 8065"/>
            </a:avLst>
          </a:prstGeom>
          <a:solidFill>
            <a:srgbClr val="F3F3F5"/>
          </a:solidFill>
          <a:ln/>
        </p:spPr>
      </p:sp>
      <p:sp>
        <p:nvSpPr>
          <p:cNvPr id="42" name="Shape 39"/>
          <p:cNvSpPr/>
          <p:nvPr/>
        </p:nvSpPr>
        <p:spPr>
          <a:xfrm>
            <a:off x="502920" y="5559552"/>
            <a:ext cx="109728" cy="109728"/>
          </a:xfrm>
          <a:prstGeom prst="ellipse">
            <a:avLst/>
          </a:prstGeom>
          <a:solidFill>
            <a:srgbClr val="3F7D5A"/>
          </a:solidFill>
          <a:ln/>
        </p:spPr>
      </p:sp>
      <p:sp>
        <p:nvSpPr>
          <p:cNvPr id="43" name="Text 40"/>
          <p:cNvSpPr txBox="1"/>
          <p:nvPr/>
        </p:nvSpPr>
        <p:spPr>
          <a:xfrm>
            <a:off x="667512" y="5513832"/>
            <a:ext cx="1880555" cy="512064"/>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Low traffic + high CVR</a:t>
            </a:r>
            <a:endParaRPr lang="en-US" sz="850" dirty="0"/>
          </a:p>
          <a:p>
            <a:pPr indent="0" marL="0">
              <a:buNone/>
            </a:pPr>
            <a:r>
              <a:rPr lang="en-US" sz="850" dirty="0">
                <a:solidFill>
                  <a:srgbClr val="1C2230"/>
                </a:solidFill>
                <a:latin typeface="Calibri" pitchFamily="34" charset="0"/>
                <a:ea typeface="Calibri" pitchFamily="34" charset="-122"/>
                <a:cs typeface="Calibri" pitchFamily="34" charset="-120"/>
              </a:rPr>
              <a:t>→ Scale PPC on proven exact terms</a:t>
            </a:r>
            <a:endParaRPr lang="en-US" sz="850" dirty="0"/>
          </a:p>
        </p:txBody>
      </p:sp>
      <p:sp>
        <p:nvSpPr>
          <p:cNvPr id="44" name="Shape 41"/>
          <p:cNvSpPr/>
          <p:nvPr/>
        </p:nvSpPr>
        <p:spPr>
          <a:xfrm>
            <a:off x="2703515" y="5486400"/>
            <a:ext cx="2200595" cy="566928"/>
          </a:xfrm>
          <a:prstGeom prst="roundRect">
            <a:avLst>
              <a:gd name="adj" fmla="val 8065"/>
            </a:avLst>
          </a:prstGeom>
          <a:solidFill>
            <a:srgbClr val="F3F3F5"/>
          </a:solidFill>
          <a:ln/>
        </p:spPr>
      </p:sp>
      <p:sp>
        <p:nvSpPr>
          <p:cNvPr id="45" name="Shape 42"/>
          <p:cNvSpPr/>
          <p:nvPr/>
        </p:nvSpPr>
        <p:spPr>
          <a:xfrm>
            <a:off x="2794955" y="5559552"/>
            <a:ext cx="109728" cy="109728"/>
          </a:xfrm>
          <a:prstGeom prst="ellipse">
            <a:avLst/>
          </a:prstGeom>
          <a:solidFill>
            <a:srgbClr val="C98A1B"/>
          </a:solidFill>
          <a:ln/>
        </p:spPr>
      </p:sp>
      <p:sp>
        <p:nvSpPr>
          <p:cNvPr id="46" name="Text 43"/>
          <p:cNvSpPr txBox="1"/>
          <p:nvPr/>
        </p:nvSpPr>
        <p:spPr>
          <a:xfrm>
            <a:off x="2959547" y="5513832"/>
            <a:ext cx="1880555" cy="512064"/>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High traffic + low CVR</a:t>
            </a:r>
            <a:endParaRPr lang="en-US" sz="850" dirty="0"/>
          </a:p>
          <a:p>
            <a:pPr indent="0" marL="0">
              <a:buNone/>
            </a:pPr>
            <a:r>
              <a:rPr lang="en-US" sz="850" dirty="0">
                <a:solidFill>
                  <a:srgbClr val="1C2230"/>
                </a:solidFill>
                <a:latin typeface="Calibri" pitchFamily="34" charset="0"/>
                <a:ea typeface="Calibri" pitchFamily="34" charset="-122"/>
                <a:cs typeface="Calibri" pitchFamily="34" charset="-120"/>
              </a:rPr>
              <a:t>→ Fix PDP: intent, images, price/coupon</a:t>
            </a:r>
            <a:endParaRPr lang="en-US" sz="850" dirty="0"/>
          </a:p>
        </p:txBody>
      </p:sp>
      <p:sp>
        <p:nvSpPr>
          <p:cNvPr id="47" name="Shape 44"/>
          <p:cNvSpPr/>
          <p:nvPr/>
        </p:nvSpPr>
        <p:spPr>
          <a:xfrm>
            <a:off x="4995550" y="5486400"/>
            <a:ext cx="2200595" cy="566928"/>
          </a:xfrm>
          <a:prstGeom prst="roundRect">
            <a:avLst>
              <a:gd name="adj" fmla="val 8065"/>
            </a:avLst>
          </a:prstGeom>
          <a:solidFill>
            <a:srgbClr val="F3F3F5"/>
          </a:solidFill>
          <a:ln/>
        </p:spPr>
      </p:sp>
      <p:sp>
        <p:nvSpPr>
          <p:cNvPr id="48" name="Shape 45"/>
          <p:cNvSpPr/>
          <p:nvPr/>
        </p:nvSpPr>
        <p:spPr>
          <a:xfrm>
            <a:off x="5086990" y="5559552"/>
            <a:ext cx="109728" cy="109728"/>
          </a:xfrm>
          <a:prstGeom prst="ellipse">
            <a:avLst/>
          </a:prstGeom>
          <a:solidFill>
            <a:srgbClr val="A33A3A"/>
          </a:solidFill>
          <a:ln/>
        </p:spPr>
      </p:sp>
      <p:sp>
        <p:nvSpPr>
          <p:cNvPr id="49" name="Text 46"/>
          <p:cNvSpPr txBox="1"/>
          <p:nvPr/>
        </p:nvSpPr>
        <p:spPr>
          <a:xfrm>
            <a:off x="5251582" y="5513832"/>
            <a:ext cx="1880555" cy="512064"/>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High spend + no order</a:t>
            </a:r>
            <a:endParaRPr lang="en-US" sz="850" dirty="0"/>
          </a:p>
          <a:p>
            <a:pPr indent="0" marL="0">
              <a:buNone/>
            </a:pPr>
            <a:r>
              <a:rPr lang="en-US" sz="850" dirty="0">
                <a:solidFill>
                  <a:srgbClr val="1C2230"/>
                </a:solidFill>
                <a:latin typeface="Calibri" pitchFamily="34" charset="0"/>
                <a:ea typeface="Calibri" pitchFamily="34" charset="-122"/>
                <a:cs typeface="Calibri" pitchFamily="34" charset="-120"/>
              </a:rPr>
              <a:t>→ Negative / pause</a:t>
            </a:r>
            <a:endParaRPr lang="en-US" sz="850" dirty="0"/>
          </a:p>
        </p:txBody>
      </p:sp>
      <p:sp>
        <p:nvSpPr>
          <p:cNvPr id="50" name="Shape 47"/>
          <p:cNvSpPr/>
          <p:nvPr/>
        </p:nvSpPr>
        <p:spPr>
          <a:xfrm>
            <a:off x="7287585" y="5486400"/>
            <a:ext cx="2200595" cy="566928"/>
          </a:xfrm>
          <a:prstGeom prst="roundRect">
            <a:avLst>
              <a:gd name="adj" fmla="val 8065"/>
            </a:avLst>
          </a:prstGeom>
          <a:solidFill>
            <a:srgbClr val="F3F3F5"/>
          </a:solidFill>
          <a:ln/>
        </p:spPr>
      </p:sp>
      <p:sp>
        <p:nvSpPr>
          <p:cNvPr id="51" name="Shape 48"/>
          <p:cNvSpPr/>
          <p:nvPr/>
        </p:nvSpPr>
        <p:spPr>
          <a:xfrm>
            <a:off x="7379025" y="5559552"/>
            <a:ext cx="109728" cy="109728"/>
          </a:xfrm>
          <a:prstGeom prst="ellipse">
            <a:avLst/>
          </a:prstGeom>
          <a:solidFill>
            <a:srgbClr val="A33A3A"/>
          </a:solidFill>
          <a:ln/>
        </p:spPr>
      </p:sp>
      <p:sp>
        <p:nvSpPr>
          <p:cNvPr id="52" name="Text 49"/>
          <p:cNvSpPr txBox="1"/>
          <p:nvPr/>
        </p:nvSpPr>
        <p:spPr>
          <a:xfrm>
            <a:off x="7543617" y="5513832"/>
            <a:ext cx="1880555" cy="512064"/>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Popular size running low</a:t>
            </a:r>
            <a:endParaRPr lang="en-US" sz="850" dirty="0"/>
          </a:p>
          <a:p>
            <a:pPr indent="0" marL="0">
              <a:buNone/>
            </a:pPr>
            <a:r>
              <a:rPr lang="en-US" sz="850" dirty="0">
                <a:solidFill>
                  <a:srgbClr val="1C2230"/>
                </a:solidFill>
                <a:latin typeface="Calibri" pitchFamily="34" charset="0"/>
                <a:ea typeface="Calibri" pitchFamily="34" charset="-122"/>
                <a:cs typeface="Calibri" pitchFamily="34" charset="-120"/>
              </a:rPr>
              <a:t>→ Cut PPC on that child SKU</a:t>
            </a:r>
            <a:endParaRPr lang="en-US" sz="850" dirty="0"/>
          </a:p>
        </p:txBody>
      </p:sp>
      <p:sp>
        <p:nvSpPr>
          <p:cNvPr id="53" name="Shape 50"/>
          <p:cNvSpPr/>
          <p:nvPr/>
        </p:nvSpPr>
        <p:spPr>
          <a:xfrm>
            <a:off x="9579620" y="5486400"/>
            <a:ext cx="2200595" cy="566928"/>
          </a:xfrm>
          <a:prstGeom prst="roundRect">
            <a:avLst>
              <a:gd name="adj" fmla="val 8065"/>
            </a:avLst>
          </a:prstGeom>
          <a:solidFill>
            <a:srgbClr val="F3F3F5"/>
          </a:solidFill>
          <a:ln/>
        </p:spPr>
      </p:sp>
      <p:sp>
        <p:nvSpPr>
          <p:cNvPr id="54" name="Shape 51"/>
          <p:cNvSpPr/>
          <p:nvPr/>
        </p:nvSpPr>
        <p:spPr>
          <a:xfrm>
            <a:off x="9671060" y="5559552"/>
            <a:ext cx="109728" cy="109728"/>
          </a:xfrm>
          <a:prstGeom prst="ellipse">
            <a:avLst/>
          </a:prstGeom>
          <a:solidFill>
            <a:srgbClr val="C98A1B"/>
          </a:solidFill>
          <a:ln/>
        </p:spPr>
      </p:sp>
      <p:sp>
        <p:nvSpPr>
          <p:cNvPr id="55" name="Text 52"/>
          <p:cNvSpPr txBox="1"/>
          <p:nvPr/>
        </p:nvSpPr>
        <p:spPr>
          <a:xfrm>
            <a:off x="9835652" y="5513832"/>
            <a:ext cx="1880555" cy="512064"/>
          </a:xfrm>
          <a:prstGeom prst="rect">
            <a:avLst/>
          </a:prstGeom>
          <a:noFill/>
          <a:ln/>
        </p:spPr>
        <p:txBody>
          <a:bodyPr wrap="square" lIns="0" tIns="0" rIns="0" bIns="0" rtlCol="0" anchor="ctr"/>
          <a:lstStyle/>
          <a:p>
            <a:pPr indent="0" marL="0">
              <a:buNone/>
            </a:pPr>
            <a:r>
              <a:rPr lang="en-US" sz="850" b="1" dirty="0">
                <a:solidFill>
                  <a:srgbClr val="1C2230"/>
                </a:solidFill>
                <a:latin typeface="Calibri" pitchFamily="34" charset="0"/>
                <a:ea typeface="Calibri" pitchFamily="34" charset="-122"/>
                <a:cs typeface="Calibri" pitchFamily="34" charset="-120"/>
              </a:rPr>
              <a:t>CVR up + returns up</a:t>
            </a:r>
            <a:endParaRPr lang="en-US" sz="850" dirty="0"/>
          </a:p>
          <a:p>
            <a:pPr indent="0" marL="0">
              <a:buNone/>
            </a:pPr>
            <a:r>
              <a:rPr lang="en-US" sz="850" dirty="0">
                <a:solidFill>
                  <a:srgbClr val="1C2230"/>
                </a:solidFill>
                <a:latin typeface="Calibri" pitchFamily="34" charset="0"/>
                <a:ea typeface="Calibri" pitchFamily="34" charset="-122"/>
                <a:cs typeface="Calibri" pitchFamily="34" charset="-120"/>
              </a:rPr>
              <a:t>→ Fix expectations: size chart, fabric copy</a:t>
            </a:r>
            <a:endParaRPr lang="en-US" sz="850" dirty="0"/>
          </a:p>
        </p:txBody>
      </p:sp>
      <p:sp>
        <p:nvSpPr>
          <p:cNvPr id="56" name="Shape 53"/>
          <p:cNvSpPr/>
          <p:nvPr/>
        </p:nvSpPr>
        <p:spPr>
          <a:xfrm>
            <a:off x="411480" y="6144768"/>
            <a:ext cx="11368735" cy="420624"/>
          </a:xfrm>
          <a:prstGeom prst="roundRect">
            <a:avLst>
              <a:gd name="adj" fmla="val 13043"/>
            </a:avLst>
          </a:prstGeom>
          <a:solidFill>
            <a:srgbClr val="1C2230"/>
          </a:solidFill>
          <a:ln/>
        </p:spPr>
      </p:sp>
      <p:sp>
        <p:nvSpPr>
          <p:cNvPr id="57" name="Text 54"/>
          <p:cNvSpPr txBox="1"/>
          <p:nvPr/>
        </p:nvSpPr>
        <p:spPr>
          <a:xfrm>
            <a:off x="640080" y="6144768"/>
            <a:ext cx="10911535" cy="42062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SIXDO does not need more traffic first — it needs more qualified traffic converting against the right occasion.</a:t>
            </a:r>
            <a:endParaRPr lang="en-US" sz="1350" dirty="0"/>
          </a:p>
        </p:txBody>
      </p:sp>
      <p:sp>
        <p:nvSpPr>
          <p:cNvPr id="58" name="Text 55"/>
          <p:cNvSpPr txBox="1"/>
          <p:nvPr/>
        </p:nvSpPr>
        <p:spPr>
          <a:xfrm>
            <a:off x="411480" y="6583680"/>
            <a:ext cx="11368735" cy="274320"/>
          </a:xfrm>
          <a:prstGeom prst="rect">
            <a:avLst/>
          </a:prstGeom>
          <a:noFill/>
          <a:ln/>
        </p:spPr>
        <p:txBody>
          <a:bodyPr wrap="square" lIns="0" tIns="0" rIns="0" bIns="0" rtlCol="0" anchor="t"/>
          <a:lstStyle/>
          <a:p>
            <a:pPr indent="0" marL="0">
              <a:buNone/>
            </a:pPr>
            <a:r>
              <a:rPr lang="en-US" sz="800" i="1" dirty="0">
                <a:solidFill>
                  <a:srgbClr val="6B6F76"/>
                </a:solidFill>
                <a:latin typeface="Calibri" pitchFamily="34" charset="0"/>
                <a:ea typeface="Calibri" pitchFamily="34" charset="-122"/>
                <a:cs typeface="Calibri" pitchFamily="34" charset="-120"/>
              </a:rPr>
              <a:t>Diagnostics: Low CTR → keyword / main image / title mismatch · High CTR + low CVR → PDP / search-intent mismatch · Overstocked SKU → listing → targeted traffic → coupon last.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SIXDO – Amazon US Strategy (Yêu cầu 02)</dc:title>
  <dc:subject>PptxGenJS Presentation</dc:subject>
  <dc:creator>PptxGenJS</dc:creator>
  <cp:lastModifiedBy>PptxGenJS</cp:lastModifiedBy>
  <cp:revision>1</cp:revision>
  <dcterms:created xsi:type="dcterms:W3CDTF">2026-09-30T11:36:10Z</dcterms:created>
  <dcterms:modified xsi:type="dcterms:W3CDTF">2026-09-30T11:36:10Z</dcterms:modified>
</cp:coreProperties>
</file>